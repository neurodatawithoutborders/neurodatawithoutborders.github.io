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58" r:id="rId3"/>
    <p:sldId id="260" r:id="rId4"/>
    <p:sldId id="259" r:id="rId5"/>
    <p:sldId id="256" r:id="rId6"/>
  </p:sldIdLst>
  <p:sldSz cx="22860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FE9300"/>
    <a:srgbClr val="FF7727"/>
    <a:srgbClr val="C55B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>
        <p:scale>
          <a:sx n="76" d="100"/>
          <a:sy n="76" d="100"/>
        </p:scale>
        <p:origin x="-680" y="-1432"/>
      </p:cViewPr>
      <p:guideLst>
        <p:guide orient="horz" pos="3553"/>
        <p:guide pos="550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interSettings" Target="printerSettings/printerSettings1.bin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2130427"/>
            <a:ext cx="194310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0" y="3886200"/>
            <a:ext cx="160020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4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3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5782" y="4406902"/>
            <a:ext cx="194310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05782" y="2906713"/>
            <a:ext cx="194310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824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55814" y="1600202"/>
            <a:ext cx="1832768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64502" y="1600202"/>
            <a:ext cx="1832768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274638"/>
            <a:ext cx="205740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535113"/>
            <a:ext cx="1010046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174875"/>
            <a:ext cx="1010046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612564" y="1535113"/>
            <a:ext cx="101044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612564" y="2174875"/>
            <a:ext cx="101044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046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10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9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2" y="273050"/>
            <a:ext cx="7520782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37625" y="273052"/>
            <a:ext cx="1277937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2" y="1435102"/>
            <a:ext cx="7520782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58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0719" y="4800600"/>
            <a:ext cx="137160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480719" y="612775"/>
            <a:ext cx="137160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80719" y="5367338"/>
            <a:ext cx="137160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77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166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833097" y="274640"/>
            <a:ext cx="9259093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55815" y="274640"/>
            <a:ext cx="27396282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386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274638"/>
            <a:ext cx="20574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600202"/>
            <a:ext cx="20574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3000" y="6356352"/>
            <a:ext cx="533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05D932-05F1-9D4A-98AF-69C52170003B}" type="datetimeFigureOut">
              <a:rPr lang="en-US" smtClean="0"/>
              <a:t>4/18/21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10500" y="6356352"/>
            <a:ext cx="7239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383000" y="6356352"/>
            <a:ext cx="533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BAFA65-9A4E-AC4F-A698-7215493128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892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otched Right Arrow 3"/>
          <p:cNvSpPr/>
          <p:nvPr/>
        </p:nvSpPr>
        <p:spPr>
          <a:xfrm>
            <a:off x="11083258" y="2449300"/>
            <a:ext cx="563945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>
              <a:lumMod val="7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" name="Notched Right Arrow 4"/>
          <p:cNvSpPr/>
          <p:nvPr/>
        </p:nvSpPr>
        <p:spPr>
          <a:xfrm>
            <a:off x="12617620" y="2449300"/>
            <a:ext cx="4105095" cy="885739"/>
          </a:xfrm>
          <a:prstGeom prst="notchedRightArrow">
            <a:avLst>
              <a:gd name="adj1" fmla="val 100000"/>
              <a:gd name="adj2" fmla="val 47999"/>
            </a:avLst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36000">
                <a:schemeClr val="accent4">
                  <a:lumMod val="60000"/>
                  <a:lumOff val="4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" name="Notched Right Arrow 169"/>
          <p:cNvSpPr/>
          <p:nvPr/>
        </p:nvSpPr>
        <p:spPr>
          <a:xfrm>
            <a:off x="-2937955" y="2451367"/>
            <a:ext cx="2108851" cy="885739"/>
          </a:xfrm>
          <a:custGeom>
            <a:avLst/>
            <a:gdLst>
              <a:gd name="connsiteX0" fmla="*/ 0 w 2108851"/>
              <a:gd name="connsiteY0" fmla="*/ 0 h 885739"/>
              <a:gd name="connsiteX1" fmla="*/ 1683705 w 2108851"/>
              <a:gd name="connsiteY1" fmla="*/ 0 h 885739"/>
              <a:gd name="connsiteX2" fmla="*/ 1683705 w 2108851"/>
              <a:gd name="connsiteY2" fmla="*/ 0 h 885739"/>
              <a:gd name="connsiteX3" fmla="*/ 2108851 w 2108851"/>
              <a:gd name="connsiteY3" fmla="*/ 442870 h 885739"/>
              <a:gd name="connsiteX4" fmla="*/ 1683705 w 2108851"/>
              <a:gd name="connsiteY4" fmla="*/ 885739 h 885739"/>
              <a:gd name="connsiteX5" fmla="*/ 1683705 w 2108851"/>
              <a:gd name="connsiteY5" fmla="*/ 885739 h 885739"/>
              <a:gd name="connsiteX6" fmla="*/ 0 w 2108851"/>
              <a:gd name="connsiteY6" fmla="*/ 885739 h 885739"/>
              <a:gd name="connsiteX7" fmla="*/ 425146 w 2108851"/>
              <a:gd name="connsiteY7" fmla="*/ 442870 h 885739"/>
              <a:gd name="connsiteX8" fmla="*/ 0 w 2108851"/>
              <a:gd name="connsiteY8" fmla="*/ 0 h 885739"/>
              <a:gd name="connsiteX0" fmla="*/ 0 w 2108851"/>
              <a:gd name="connsiteY0" fmla="*/ 0 h 885739"/>
              <a:gd name="connsiteX1" fmla="*/ 1683705 w 2108851"/>
              <a:gd name="connsiteY1" fmla="*/ 0 h 885739"/>
              <a:gd name="connsiteX2" fmla="*/ 1683705 w 2108851"/>
              <a:gd name="connsiteY2" fmla="*/ 0 h 885739"/>
              <a:gd name="connsiteX3" fmla="*/ 2108851 w 2108851"/>
              <a:gd name="connsiteY3" fmla="*/ 442870 h 885739"/>
              <a:gd name="connsiteX4" fmla="*/ 1683705 w 2108851"/>
              <a:gd name="connsiteY4" fmla="*/ 885739 h 885739"/>
              <a:gd name="connsiteX5" fmla="*/ 1683705 w 2108851"/>
              <a:gd name="connsiteY5" fmla="*/ 885739 h 885739"/>
              <a:gd name="connsiteX6" fmla="*/ 0 w 2108851"/>
              <a:gd name="connsiteY6" fmla="*/ 885739 h 885739"/>
              <a:gd name="connsiteX7" fmla="*/ 221946 w 2108851"/>
              <a:gd name="connsiteY7" fmla="*/ 449220 h 885739"/>
              <a:gd name="connsiteX8" fmla="*/ 0 w 2108851"/>
              <a:gd name="connsiteY8" fmla="*/ 0 h 885739"/>
              <a:gd name="connsiteX0" fmla="*/ 0 w 2108851"/>
              <a:gd name="connsiteY0" fmla="*/ 0 h 885739"/>
              <a:gd name="connsiteX1" fmla="*/ 1683705 w 2108851"/>
              <a:gd name="connsiteY1" fmla="*/ 0 h 885739"/>
              <a:gd name="connsiteX2" fmla="*/ 1683705 w 2108851"/>
              <a:gd name="connsiteY2" fmla="*/ 0 h 885739"/>
              <a:gd name="connsiteX3" fmla="*/ 2108851 w 2108851"/>
              <a:gd name="connsiteY3" fmla="*/ 442870 h 885739"/>
              <a:gd name="connsiteX4" fmla="*/ 1683705 w 2108851"/>
              <a:gd name="connsiteY4" fmla="*/ 885739 h 885739"/>
              <a:gd name="connsiteX5" fmla="*/ 1683705 w 2108851"/>
              <a:gd name="connsiteY5" fmla="*/ 885739 h 885739"/>
              <a:gd name="connsiteX6" fmla="*/ 0 w 2108851"/>
              <a:gd name="connsiteY6" fmla="*/ 885739 h 885739"/>
              <a:gd name="connsiteX7" fmla="*/ 221946 w 2108851"/>
              <a:gd name="connsiteY7" fmla="*/ 430170 h 885739"/>
              <a:gd name="connsiteX8" fmla="*/ 0 w 2108851"/>
              <a:gd name="connsiteY8" fmla="*/ 0 h 885739"/>
              <a:gd name="connsiteX0" fmla="*/ 0 w 2108851"/>
              <a:gd name="connsiteY0" fmla="*/ 0 h 885739"/>
              <a:gd name="connsiteX1" fmla="*/ 1683705 w 2108851"/>
              <a:gd name="connsiteY1" fmla="*/ 0 h 885739"/>
              <a:gd name="connsiteX2" fmla="*/ 1683705 w 2108851"/>
              <a:gd name="connsiteY2" fmla="*/ 0 h 885739"/>
              <a:gd name="connsiteX3" fmla="*/ 2108851 w 2108851"/>
              <a:gd name="connsiteY3" fmla="*/ 442870 h 885739"/>
              <a:gd name="connsiteX4" fmla="*/ 1683705 w 2108851"/>
              <a:gd name="connsiteY4" fmla="*/ 885739 h 885739"/>
              <a:gd name="connsiteX5" fmla="*/ 1683705 w 2108851"/>
              <a:gd name="connsiteY5" fmla="*/ 885739 h 885739"/>
              <a:gd name="connsiteX6" fmla="*/ 0 w 2108851"/>
              <a:gd name="connsiteY6" fmla="*/ 885739 h 885739"/>
              <a:gd name="connsiteX7" fmla="*/ 221946 w 2108851"/>
              <a:gd name="connsiteY7" fmla="*/ 442870 h 885739"/>
              <a:gd name="connsiteX8" fmla="*/ 0 w 2108851"/>
              <a:gd name="connsiteY8" fmla="*/ 0 h 885739"/>
              <a:gd name="connsiteX0" fmla="*/ 0 w 2108851"/>
              <a:gd name="connsiteY0" fmla="*/ 0 h 885739"/>
              <a:gd name="connsiteX1" fmla="*/ 1683705 w 2108851"/>
              <a:gd name="connsiteY1" fmla="*/ 0 h 885739"/>
              <a:gd name="connsiteX2" fmla="*/ 1683705 w 2108851"/>
              <a:gd name="connsiteY2" fmla="*/ 0 h 885739"/>
              <a:gd name="connsiteX3" fmla="*/ 2108851 w 2108851"/>
              <a:gd name="connsiteY3" fmla="*/ 442870 h 885739"/>
              <a:gd name="connsiteX4" fmla="*/ 1683705 w 2108851"/>
              <a:gd name="connsiteY4" fmla="*/ 885739 h 885739"/>
              <a:gd name="connsiteX5" fmla="*/ 1683705 w 2108851"/>
              <a:gd name="connsiteY5" fmla="*/ 885739 h 885739"/>
              <a:gd name="connsiteX6" fmla="*/ 0 w 2108851"/>
              <a:gd name="connsiteY6" fmla="*/ 885739 h 885739"/>
              <a:gd name="connsiteX7" fmla="*/ 0 w 2108851"/>
              <a:gd name="connsiteY7" fmla="*/ 0 h 88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08851" h="885739">
                <a:moveTo>
                  <a:pt x="0" y="0"/>
                </a:moveTo>
                <a:lnTo>
                  <a:pt x="1683705" y="0"/>
                </a:lnTo>
                <a:lnTo>
                  <a:pt x="1683705" y="0"/>
                </a:lnTo>
                <a:lnTo>
                  <a:pt x="2108851" y="442870"/>
                </a:lnTo>
                <a:lnTo>
                  <a:pt x="1683705" y="885739"/>
                </a:lnTo>
                <a:lnTo>
                  <a:pt x="1683705" y="885739"/>
                </a:lnTo>
                <a:lnTo>
                  <a:pt x="0" y="885739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7" name="Oval 6"/>
          <p:cNvSpPr>
            <a:spLocks noChangeAspect="1"/>
          </p:cNvSpPr>
          <p:nvPr/>
        </p:nvSpPr>
        <p:spPr>
          <a:xfrm>
            <a:off x="-1781868" y="2616843"/>
            <a:ext cx="534694" cy="534694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8" name="Straight Connector 7"/>
          <p:cNvCxnSpPr/>
          <p:nvPr/>
        </p:nvCxnSpPr>
        <p:spPr>
          <a:xfrm flipV="1">
            <a:off x="-1515723" y="3119348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-2998276" y="2986769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b="1" i="0" u="none" kern="1200" dirty="0" smtClean="0">
                <a:solidFill>
                  <a:srgbClr val="052B48"/>
                </a:solidFill>
                <a:latin typeface="Arial"/>
                <a:cs typeface="Arial"/>
              </a:rPr>
              <a:t>2014</a:t>
            </a:r>
            <a:endParaRPr lang="en-US" sz="2000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10" name="Freeform 9"/>
          <p:cNvSpPr/>
          <p:nvPr/>
        </p:nvSpPr>
        <p:spPr>
          <a:xfrm>
            <a:off x="-1875190" y="2677141"/>
            <a:ext cx="752066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i="0" u="none" kern="1200" dirty="0" smtClean="0">
                <a:solidFill>
                  <a:schemeClr val="bg1"/>
                </a:solidFill>
                <a:latin typeface="Arial"/>
                <a:cs typeface="Arial"/>
              </a:rPr>
              <a:t>Nov</a:t>
            </a:r>
            <a:endParaRPr lang="en-US" b="1" kern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1" name="Freeform 10"/>
          <p:cNvSpPr/>
          <p:nvPr/>
        </p:nvSpPr>
        <p:spPr>
          <a:xfrm>
            <a:off x="-2639268" y="3396905"/>
            <a:ext cx="1926073" cy="811807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err="1" smtClean="0">
                <a:solidFill>
                  <a:srgbClr val="052B48"/>
                </a:solidFill>
                <a:latin typeface="Arial"/>
                <a:cs typeface="Arial"/>
              </a:rPr>
              <a:t>Hackathon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</a:t>
            </a:r>
            <a:r>
              <a:rPr lang="en-US" sz="2200" dirty="0">
                <a:solidFill>
                  <a:srgbClr val="052B48"/>
                </a:solidFill>
                <a:latin typeface="Arial"/>
                <a:cs typeface="Arial"/>
              </a:rPr>
              <a:t>@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HHMI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12" name="Notched Right Arrow 11"/>
          <p:cNvSpPr/>
          <p:nvPr/>
        </p:nvSpPr>
        <p:spPr>
          <a:xfrm>
            <a:off x="-1259915" y="2451367"/>
            <a:ext cx="2390136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7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3" name="Freeform 12"/>
          <p:cNvSpPr/>
          <p:nvPr/>
        </p:nvSpPr>
        <p:spPr>
          <a:xfrm>
            <a:off x="-1311171" y="2986769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b="1" i="0" u="none" kern="1200" dirty="0" smtClean="0">
                <a:solidFill>
                  <a:srgbClr val="052B48"/>
                </a:solidFill>
                <a:latin typeface="Arial"/>
                <a:cs typeface="Arial"/>
              </a:rPr>
              <a:t>2015</a:t>
            </a:r>
            <a:endParaRPr lang="en-US" sz="2000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14" name="Freeform 13"/>
          <p:cNvSpPr/>
          <p:nvPr/>
        </p:nvSpPr>
        <p:spPr>
          <a:xfrm>
            <a:off x="-1301079" y="1566990"/>
            <a:ext cx="2065705" cy="7245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err="1" smtClean="0">
                <a:solidFill>
                  <a:srgbClr val="052B48"/>
                </a:solidFill>
                <a:latin typeface="Arial"/>
                <a:cs typeface="Arial"/>
              </a:rPr>
              <a:t>Hackathon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</a:t>
            </a:r>
            <a:r>
              <a:rPr lang="en-US" sz="2200" dirty="0">
                <a:solidFill>
                  <a:srgbClr val="052B48"/>
                </a:solidFill>
                <a:latin typeface="Arial"/>
                <a:cs typeface="Arial"/>
              </a:rPr>
              <a:t>@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HHMI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15" name="Oval 14"/>
          <p:cNvSpPr>
            <a:spLocks noChangeAspect="1"/>
          </p:cNvSpPr>
          <p:nvPr/>
        </p:nvSpPr>
        <p:spPr>
          <a:xfrm>
            <a:off x="-546453" y="2616843"/>
            <a:ext cx="534694" cy="534694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6" name="Straight Connector 15"/>
          <p:cNvCxnSpPr/>
          <p:nvPr/>
        </p:nvCxnSpPr>
        <p:spPr>
          <a:xfrm flipV="1">
            <a:off x="-270746" y="2284885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-622137" y="2659500"/>
            <a:ext cx="716693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chemeClr val="bg1"/>
                </a:solidFill>
                <a:latin typeface="Arial"/>
                <a:cs typeface="Arial"/>
              </a:rPr>
              <a:t>May</a:t>
            </a:r>
            <a:endParaRPr lang="en-US" b="1" kern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" name="Notched Right Arrow 17"/>
          <p:cNvSpPr/>
          <p:nvPr/>
        </p:nvSpPr>
        <p:spPr>
          <a:xfrm>
            <a:off x="702014" y="2450866"/>
            <a:ext cx="1221321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6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9" name="Freeform 18"/>
          <p:cNvSpPr/>
          <p:nvPr/>
        </p:nvSpPr>
        <p:spPr>
          <a:xfrm>
            <a:off x="650263" y="2982257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b="1" i="0" u="none" kern="1200" dirty="0" smtClean="0">
                <a:solidFill>
                  <a:srgbClr val="052B48"/>
                </a:solidFill>
                <a:latin typeface="Arial"/>
                <a:cs typeface="Arial"/>
              </a:rPr>
              <a:t>2016</a:t>
            </a:r>
            <a:endParaRPr lang="en-US" sz="2000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20" name="Notched Right Arrow 19"/>
          <p:cNvSpPr/>
          <p:nvPr/>
        </p:nvSpPr>
        <p:spPr>
          <a:xfrm>
            <a:off x="1491988" y="2449300"/>
            <a:ext cx="6078882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1" name="Oval 20"/>
          <p:cNvSpPr>
            <a:spLocks noChangeAspect="1"/>
          </p:cNvSpPr>
          <p:nvPr/>
        </p:nvSpPr>
        <p:spPr>
          <a:xfrm>
            <a:off x="2479549" y="2614776"/>
            <a:ext cx="534694" cy="53469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2" name="Straight Connector 21"/>
          <p:cNvCxnSpPr>
            <a:stCxn id="21" idx="0"/>
          </p:cNvCxnSpPr>
          <p:nvPr/>
        </p:nvCxnSpPr>
        <p:spPr>
          <a:xfrm flipV="1">
            <a:off x="2746896" y="2261130"/>
            <a:ext cx="0" cy="353646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1485524" y="2982257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b="1" i="0" u="none" kern="1200" dirty="0" smtClean="0">
                <a:solidFill>
                  <a:srgbClr val="052B48"/>
                </a:solidFill>
                <a:latin typeface="Arial"/>
                <a:cs typeface="Arial"/>
              </a:rPr>
              <a:t>2017</a:t>
            </a:r>
            <a:endParaRPr lang="en-US" sz="2000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24" name="Freeform 23"/>
          <p:cNvSpPr/>
          <p:nvPr/>
        </p:nvSpPr>
        <p:spPr>
          <a:xfrm>
            <a:off x="2470600" y="2642603"/>
            <a:ext cx="569312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i="0" u="none" kern="1200" dirty="0" smtClean="0">
                <a:solidFill>
                  <a:srgbClr val="052B48"/>
                </a:solidFill>
                <a:latin typeface="Arial"/>
                <a:cs typeface="Arial"/>
              </a:rPr>
              <a:t>Jan</a:t>
            </a:r>
            <a:endParaRPr lang="en-US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25" name="Freeform 24"/>
          <p:cNvSpPr/>
          <p:nvPr/>
        </p:nvSpPr>
        <p:spPr>
          <a:xfrm>
            <a:off x="1227373" y="1482591"/>
            <a:ext cx="2944826" cy="805538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err="1" smtClean="0">
                <a:solidFill>
                  <a:srgbClr val="052B48"/>
                </a:solidFill>
                <a:latin typeface="Arial"/>
                <a:cs typeface="Arial"/>
              </a:rPr>
              <a:t>Kavli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Foundation funds NWB redesign by LBNL 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26" name="Freeform 25"/>
          <p:cNvSpPr/>
          <p:nvPr/>
        </p:nvSpPr>
        <p:spPr>
          <a:xfrm>
            <a:off x="2852836" y="3557667"/>
            <a:ext cx="1795387" cy="65750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err="1" smtClean="0">
                <a:solidFill>
                  <a:srgbClr val="052B48"/>
                </a:solidFill>
                <a:latin typeface="Arial"/>
                <a:cs typeface="Arial"/>
              </a:rPr>
              <a:t>Hackathon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</a:t>
            </a:r>
            <a:r>
              <a:rPr lang="en-US" sz="2200" dirty="0">
                <a:solidFill>
                  <a:srgbClr val="052B48"/>
                </a:solidFill>
                <a:latin typeface="Arial"/>
                <a:cs typeface="Arial"/>
              </a:rPr>
              <a:t>@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HHMI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27" name="Oval 26"/>
          <p:cNvSpPr>
            <a:spLocks noChangeAspect="1"/>
          </p:cNvSpPr>
          <p:nvPr/>
        </p:nvSpPr>
        <p:spPr>
          <a:xfrm>
            <a:off x="3669465" y="2614776"/>
            <a:ext cx="534694" cy="53469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8" name="Straight Connector 27"/>
          <p:cNvCxnSpPr/>
          <p:nvPr/>
        </p:nvCxnSpPr>
        <p:spPr>
          <a:xfrm flipV="1">
            <a:off x="3927533" y="3121958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 28"/>
          <p:cNvSpPr/>
          <p:nvPr/>
        </p:nvSpPr>
        <p:spPr>
          <a:xfrm>
            <a:off x="3642877" y="2642603"/>
            <a:ext cx="569312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i="0" u="none" kern="1200" dirty="0" smtClean="0">
                <a:solidFill>
                  <a:srgbClr val="052B48"/>
                </a:solidFill>
                <a:latin typeface="Arial"/>
                <a:cs typeface="Arial"/>
              </a:rPr>
              <a:t>Jul</a:t>
            </a:r>
            <a:endParaRPr lang="en-US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30" name="Oval 29"/>
          <p:cNvSpPr>
            <a:spLocks noChangeAspect="1"/>
          </p:cNvSpPr>
          <p:nvPr/>
        </p:nvSpPr>
        <p:spPr>
          <a:xfrm>
            <a:off x="4900523" y="2594324"/>
            <a:ext cx="534694" cy="53469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31" name="Straight Connector 30"/>
          <p:cNvCxnSpPr>
            <a:stCxn id="30" idx="0"/>
          </p:cNvCxnSpPr>
          <p:nvPr/>
        </p:nvCxnSpPr>
        <p:spPr>
          <a:xfrm flipV="1">
            <a:off x="5167870" y="2243489"/>
            <a:ext cx="0" cy="350835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4768101" y="2639792"/>
            <a:ext cx="793914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rgbClr val="052B48"/>
                </a:solidFill>
                <a:latin typeface="Arial"/>
                <a:cs typeface="Arial"/>
              </a:rPr>
              <a:t>Aug</a:t>
            </a:r>
            <a:endParaRPr lang="en-US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33" name="Freeform 32"/>
          <p:cNvSpPr/>
          <p:nvPr/>
        </p:nvSpPr>
        <p:spPr>
          <a:xfrm>
            <a:off x="4021739" y="1566991"/>
            <a:ext cx="2232399" cy="749867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NWB Executive Board Founded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34" name="Freeform 33"/>
          <p:cNvSpPr/>
          <p:nvPr/>
        </p:nvSpPr>
        <p:spPr>
          <a:xfrm>
            <a:off x="4855062" y="3432187"/>
            <a:ext cx="2677295" cy="1101605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NWB 2.0, </a:t>
            </a:r>
            <a:r>
              <a:rPr lang="en-US" sz="2200" dirty="0" err="1" smtClean="0">
                <a:solidFill>
                  <a:srgbClr val="052B48"/>
                </a:solidFill>
                <a:latin typeface="Arial"/>
                <a:cs typeface="Arial"/>
              </a:rPr>
              <a:t>PyNWB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,  </a:t>
            </a:r>
            <a:r>
              <a:rPr lang="en-US" sz="2200" dirty="0" err="1" smtClean="0">
                <a:solidFill>
                  <a:srgbClr val="052B48"/>
                </a:solidFill>
                <a:latin typeface="Arial"/>
                <a:cs typeface="Arial"/>
              </a:rPr>
              <a:t>MatNWB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 beta releas</a:t>
            </a:r>
            <a:r>
              <a:rPr lang="en-US" sz="2200" dirty="0">
                <a:solidFill>
                  <a:srgbClr val="052B48"/>
                </a:solidFill>
                <a:latin typeface="Arial"/>
                <a:cs typeface="Arial"/>
              </a:rPr>
              <a:t>e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  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35" name="Oval 34"/>
          <p:cNvSpPr>
            <a:spLocks noChangeAspect="1"/>
          </p:cNvSpPr>
          <p:nvPr/>
        </p:nvSpPr>
        <p:spPr>
          <a:xfrm>
            <a:off x="6155502" y="2605053"/>
            <a:ext cx="534694" cy="53469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36" name="Straight Connector 35"/>
          <p:cNvCxnSpPr/>
          <p:nvPr/>
        </p:nvCxnSpPr>
        <p:spPr>
          <a:xfrm flipV="1">
            <a:off x="6378292" y="3117490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6040718" y="2650521"/>
            <a:ext cx="808935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rgbClr val="052B48"/>
                </a:solidFill>
                <a:latin typeface="Arial"/>
                <a:cs typeface="Arial"/>
              </a:rPr>
              <a:t>Nov</a:t>
            </a:r>
            <a:endParaRPr lang="en-US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38" name="Notched Right Arrow 37"/>
          <p:cNvSpPr/>
          <p:nvPr/>
        </p:nvSpPr>
        <p:spPr>
          <a:xfrm>
            <a:off x="7144907" y="2449300"/>
            <a:ext cx="435604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/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9" name="Freeform 38"/>
          <p:cNvSpPr/>
          <p:nvPr/>
        </p:nvSpPr>
        <p:spPr>
          <a:xfrm>
            <a:off x="-713195" y="3437478"/>
            <a:ext cx="2205182" cy="1050251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Teeters et al., Neuron, Vol. 88(4), 629 - 634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40" name="Oval 39"/>
          <p:cNvSpPr>
            <a:spLocks noChangeAspect="1"/>
          </p:cNvSpPr>
          <p:nvPr/>
        </p:nvSpPr>
        <p:spPr>
          <a:xfrm>
            <a:off x="187879" y="2609680"/>
            <a:ext cx="534694" cy="534694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41" name="Straight Connector 40"/>
          <p:cNvCxnSpPr/>
          <p:nvPr/>
        </p:nvCxnSpPr>
        <p:spPr>
          <a:xfrm flipV="1">
            <a:off x="463557" y="3122540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94556" y="2652337"/>
            <a:ext cx="740235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chemeClr val="bg1"/>
                </a:solidFill>
                <a:latin typeface="Arial"/>
                <a:cs typeface="Arial"/>
              </a:rPr>
              <a:t>Nov</a:t>
            </a:r>
            <a:endParaRPr lang="en-US" b="1" kern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3" name="Freeform 42"/>
          <p:cNvSpPr/>
          <p:nvPr/>
        </p:nvSpPr>
        <p:spPr>
          <a:xfrm>
            <a:off x="7248289" y="1566990"/>
            <a:ext cx="2501344" cy="7245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Developer </a:t>
            </a:r>
            <a:r>
              <a:rPr lang="en-US" sz="2200" dirty="0" err="1" smtClean="0">
                <a:solidFill>
                  <a:srgbClr val="052B48"/>
                </a:solidFill>
                <a:latin typeface="Arial"/>
                <a:cs typeface="Arial"/>
              </a:rPr>
              <a:t>Hackathon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 </a:t>
            </a:r>
            <a:r>
              <a:rPr lang="en-US" sz="2200" dirty="0">
                <a:solidFill>
                  <a:srgbClr val="052B48"/>
                </a:solidFill>
                <a:latin typeface="Arial"/>
                <a:cs typeface="Arial"/>
              </a:rPr>
              <a:t>@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 AIBS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44" name="Oval 43"/>
          <p:cNvSpPr>
            <a:spLocks noChangeAspect="1"/>
          </p:cNvSpPr>
          <p:nvPr/>
        </p:nvSpPr>
        <p:spPr>
          <a:xfrm>
            <a:off x="8273335" y="2606869"/>
            <a:ext cx="534694" cy="53469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45" name="Straight Connector 44"/>
          <p:cNvCxnSpPr/>
          <p:nvPr/>
        </p:nvCxnSpPr>
        <p:spPr>
          <a:xfrm flipV="1">
            <a:off x="8496125" y="2302012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8246747" y="2652337"/>
            <a:ext cx="569312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 smtClean="0">
                <a:solidFill>
                  <a:srgbClr val="052B48"/>
                </a:solidFill>
                <a:latin typeface="Arial"/>
                <a:cs typeface="Arial"/>
              </a:rPr>
              <a:t>Apr</a:t>
            </a:r>
            <a:endParaRPr lang="en-US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47" name="Freeform 46"/>
          <p:cNvSpPr/>
          <p:nvPr/>
        </p:nvSpPr>
        <p:spPr>
          <a:xfrm>
            <a:off x="7532357" y="3369917"/>
            <a:ext cx="1942316" cy="110017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User </a:t>
            </a:r>
            <a:r>
              <a:rPr lang="en-US" sz="2200" dirty="0" err="1" smtClean="0">
                <a:solidFill>
                  <a:srgbClr val="052B48"/>
                </a:solidFill>
                <a:latin typeface="Arial"/>
                <a:cs typeface="Arial"/>
              </a:rPr>
              <a:t>Hackathon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 </a:t>
            </a:r>
            <a:r>
              <a:rPr lang="en-US" sz="2200" dirty="0">
                <a:solidFill>
                  <a:srgbClr val="052B48"/>
                </a:solidFill>
                <a:latin typeface="Arial"/>
                <a:cs typeface="Arial"/>
              </a:rPr>
              <a:t>@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 LBNL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8496125" y="3121694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7142101" y="2986769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b="1" i="0" u="none" kern="1200" dirty="0" smtClean="0">
                <a:solidFill>
                  <a:srgbClr val="052B48"/>
                </a:solidFill>
                <a:latin typeface="Arial"/>
                <a:cs typeface="Arial"/>
              </a:rPr>
              <a:t>2018</a:t>
            </a:r>
            <a:endParaRPr lang="en-US" sz="2000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 flipV="1">
            <a:off x="10882365" y="2286952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10044129" y="1566991"/>
            <a:ext cx="1684295" cy="71636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NWB @ </a:t>
            </a:r>
            <a:r>
              <a:rPr lang="en-US" sz="2200" dirty="0" err="1" smtClean="0">
                <a:solidFill>
                  <a:srgbClr val="052B48"/>
                </a:solidFill>
                <a:latin typeface="Arial"/>
                <a:cs typeface="Arial"/>
              </a:rPr>
              <a:t>SfN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52" name="Oval 51"/>
          <p:cNvSpPr>
            <a:spLocks noChangeAspect="1"/>
          </p:cNvSpPr>
          <p:nvPr/>
        </p:nvSpPr>
        <p:spPr>
          <a:xfrm>
            <a:off x="10659575" y="2605053"/>
            <a:ext cx="534694" cy="53469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53" name="Freeform 52"/>
          <p:cNvSpPr/>
          <p:nvPr/>
        </p:nvSpPr>
        <p:spPr>
          <a:xfrm>
            <a:off x="10580070" y="2668162"/>
            <a:ext cx="710012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rgbClr val="052B48"/>
                </a:solidFill>
                <a:latin typeface="Arial"/>
                <a:cs typeface="Arial"/>
              </a:rPr>
              <a:t>Nov</a:t>
            </a:r>
            <a:endParaRPr lang="en-US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54" name="Left Brace 53"/>
          <p:cNvSpPr/>
          <p:nvPr/>
        </p:nvSpPr>
        <p:spPr>
          <a:xfrm rot="16200000">
            <a:off x="-904335" y="2444394"/>
            <a:ext cx="359304" cy="4433348"/>
          </a:xfrm>
          <a:prstGeom prst="leftBrace">
            <a:avLst/>
          </a:prstGeom>
          <a:ln w="28575" cmpd="sng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200" dirty="0">
              <a:solidFill>
                <a:srgbClr val="7F7F7F"/>
              </a:solidFill>
              <a:latin typeface="Arial"/>
              <a:cs typeface="Arial"/>
            </a:endParaRPr>
          </a:p>
        </p:txBody>
      </p:sp>
      <p:sp>
        <p:nvSpPr>
          <p:cNvPr id="55" name="Left Brace 54"/>
          <p:cNvSpPr/>
          <p:nvPr/>
        </p:nvSpPr>
        <p:spPr>
          <a:xfrm rot="16200000">
            <a:off x="7338624" y="-1336149"/>
            <a:ext cx="351659" cy="11986781"/>
          </a:xfrm>
          <a:prstGeom prst="leftBrace">
            <a:avLst/>
          </a:prstGeom>
          <a:ln w="28575" cmpd="sng">
            <a:solidFill>
              <a:srgbClr val="4F8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200" dirty="0">
              <a:latin typeface="Arial"/>
              <a:cs typeface="Arial"/>
            </a:endParaRPr>
          </a:p>
        </p:txBody>
      </p:sp>
      <p:sp>
        <p:nvSpPr>
          <p:cNvPr id="56" name="Freeform 55"/>
          <p:cNvSpPr/>
          <p:nvPr/>
        </p:nvSpPr>
        <p:spPr>
          <a:xfrm>
            <a:off x="-2943796" y="4798301"/>
            <a:ext cx="5435042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85344" rIns="85344" bIns="85344" numCol="1" spcCol="1270" anchor="b" anchorCtr="0">
            <a:noAutofit/>
          </a:bodyPr>
          <a:lstStyle/>
          <a:p>
            <a:pPr lvl="0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b="1" kern="12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cs typeface="Arial"/>
              </a:rPr>
              <a:t>Prototype Development (NWB 1.0) </a:t>
            </a:r>
            <a:endParaRPr lang="en-US" sz="2400" b="1" kern="12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57" name="Freeform 56"/>
          <p:cNvSpPr/>
          <p:nvPr/>
        </p:nvSpPr>
        <p:spPr>
          <a:xfrm>
            <a:off x="1521064" y="4798301"/>
            <a:ext cx="1163452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b="1" kern="1200" dirty="0" smtClean="0">
                <a:solidFill>
                  <a:srgbClr val="4F82BE"/>
                </a:solidFill>
                <a:latin typeface="Arial"/>
                <a:cs typeface="Arial"/>
              </a:rPr>
              <a:t>Redesign and </a:t>
            </a:r>
            <a:r>
              <a:rPr lang="en-US" sz="2400" b="1" kern="1200" dirty="0" err="1" smtClean="0">
                <a:solidFill>
                  <a:srgbClr val="4F82BE"/>
                </a:solidFill>
                <a:latin typeface="Arial"/>
                <a:cs typeface="Arial"/>
              </a:rPr>
              <a:t>Productization</a:t>
            </a:r>
            <a:r>
              <a:rPr lang="en-US" sz="2400" b="1" kern="1200" dirty="0" smtClean="0">
                <a:solidFill>
                  <a:srgbClr val="4F82BE"/>
                </a:solidFill>
                <a:latin typeface="Arial"/>
                <a:cs typeface="Arial"/>
              </a:rPr>
              <a:t> (NWB 2.0)</a:t>
            </a:r>
            <a:endParaRPr lang="en-US" sz="2400" b="1" kern="1200" dirty="0">
              <a:solidFill>
                <a:srgbClr val="4F82BE"/>
              </a:solidFill>
              <a:latin typeface="Arial"/>
              <a:cs typeface="Arial"/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 flipV="1">
            <a:off x="10311128" y="3122540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>
            <a:spLocks noChangeAspect="1"/>
          </p:cNvSpPr>
          <p:nvPr/>
        </p:nvSpPr>
        <p:spPr>
          <a:xfrm>
            <a:off x="10073289" y="2606869"/>
            <a:ext cx="534694" cy="53469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60" name="Freeform 59"/>
          <p:cNvSpPr/>
          <p:nvPr/>
        </p:nvSpPr>
        <p:spPr>
          <a:xfrm>
            <a:off x="10046701" y="2652337"/>
            <a:ext cx="569312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 smtClean="0">
                <a:solidFill>
                  <a:srgbClr val="052B48"/>
                </a:solidFill>
                <a:latin typeface="Arial"/>
                <a:cs typeface="Arial"/>
              </a:rPr>
              <a:t>Oct</a:t>
            </a:r>
            <a:endParaRPr lang="en-US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61" name="Freeform 60"/>
          <p:cNvSpPr/>
          <p:nvPr/>
        </p:nvSpPr>
        <p:spPr>
          <a:xfrm>
            <a:off x="9340280" y="3449589"/>
            <a:ext cx="1988667" cy="1231728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NWB funded by BRAIN Initiative </a:t>
            </a:r>
            <a:r>
              <a:rPr lang="nl-NL" sz="1600" dirty="0">
                <a:solidFill>
                  <a:srgbClr val="052B48"/>
                </a:solidFill>
                <a:latin typeface="Arial"/>
                <a:cs typeface="Arial"/>
              </a:rPr>
              <a:t>1R24MH116922-01</a:t>
            </a:r>
            <a:endParaRPr lang="en-US" sz="16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62" name="Left Brace 61"/>
          <p:cNvSpPr/>
          <p:nvPr/>
        </p:nvSpPr>
        <p:spPr>
          <a:xfrm rot="16200000">
            <a:off x="18134708" y="-110808"/>
            <a:ext cx="317180" cy="9501037"/>
          </a:xfrm>
          <a:prstGeom prst="leftBrace">
            <a:avLst/>
          </a:prstGeom>
          <a:ln w="28575" cmpd="sng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200" dirty="0">
              <a:solidFill>
                <a:srgbClr val="8064A2"/>
              </a:solidFill>
              <a:latin typeface="Arial"/>
              <a:cs typeface="Arial"/>
            </a:endParaRPr>
          </a:p>
        </p:txBody>
      </p:sp>
      <p:cxnSp>
        <p:nvCxnSpPr>
          <p:cNvPr id="63" name="Straight Connector 62"/>
          <p:cNvCxnSpPr/>
          <p:nvPr/>
        </p:nvCxnSpPr>
        <p:spPr>
          <a:xfrm flipV="1">
            <a:off x="12318651" y="3115868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>
            <a:spLocks noChangeAspect="1"/>
          </p:cNvSpPr>
          <p:nvPr/>
        </p:nvSpPr>
        <p:spPr>
          <a:xfrm>
            <a:off x="12110174" y="2600197"/>
            <a:ext cx="534694" cy="53469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65" name="Freeform 64"/>
          <p:cNvSpPr/>
          <p:nvPr/>
        </p:nvSpPr>
        <p:spPr>
          <a:xfrm>
            <a:off x="12065947" y="2645665"/>
            <a:ext cx="569312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rgbClr val="052B48"/>
                </a:solidFill>
                <a:latin typeface="Arial"/>
                <a:cs typeface="Arial"/>
              </a:rPr>
              <a:t>Jan</a:t>
            </a:r>
            <a:endParaRPr lang="en-US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66" name="Freeform 65"/>
          <p:cNvSpPr/>
          <p:nvPr/>
        </p:nvSpPr>
        <p:spPr>
          <a:xfrm>
            <a:off x="11055198" y="3379657"/>
            <a:ext cx="2687778" cy="11080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NWB</a:t>
            </a:r>
            <a:r>
              <a:rPr lang="en-US" sz="2200" dirty="0">
                <a:solidFill>
                  <a:srgbClr val="052B48"/>
                </a:solidFill>
                <a:latin typeface="Arial"/>
                <a:cs typeface="Arial"/>
              </a:rPr>
              <a:t> 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2.0, </a:t>
            </a:r>
            <a:r>
              <a:rPr lang="en-US" sz="2200" dirty="0" err="1" smtClean="0">
                <a:solidFill>
                  <a:srgbClr val="052B48"/>
                </a:solidFill>
                <a:latin typeface="Arial"/>
                <a:cs typeface="Arial"/>
              </a:rPr>
              <a:t>PyNWB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, </a:t>
            </a:r>
            <a:r>
              <a:rPr lang="en-US" sz="2200" dirty="0" err="1" smtClean="0">
                <a:solidFill>
                  <a:srgbClr val="052B48"/>
                </a:solidFill>
                <a:latin typeface="Arial"/>
                <a:cs typeface="Arial"/>
              </a:rPr>
              <a:t>MatNWB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 full release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67" name="Freeform 66"/>
          <p:cNvSpPr/>
          <p:nvPr/>
        </p:nvSpPr>
        <p:spPr>
          <a:xfrm>
            <a:off x="11023449" y="2986995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b="1" i="0" u="none" kern="1200" dirty="0" smtClean="0">
                <a:solidFill>
                  <a:srgbClr val="052B48"/>
                </a:solidFill>
                <a:latin typeface="Arial"/>
                <a:cs typeface="Arial"/>
              </a:rPr>
              <a:t>2019</a:t>
            </a:r>
            <a:endParaRPr lang="en-US" sz="2000" b="1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68" name="Freeform 67"/>
          <p:cNvSpPr/>
          <p:nvPr/>
        </p:nvSpPr>
        <p:spPr>
          <a:xfrm>
            <a:off x="12497521" y="1566991"/>
            <a:ext cx="2635702" cy="71094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chemeClr val="accent4"/>
                </a:solidFill>
                <a:latin typeface="Arial"/>
                <a:cs typeface="Arial"/>
              </a:rPr>
              <a:t>User and Developer </a:t>
            </a:r>
            <a:r>
              <a:rPr lang="en-US" sz="2200" dirty="0" err="1" smtClean="0">
                <a:solidFill>
                  <a:schemeClr val="accent4"/>
                </a:solidFill>
                <a:latin typeface="Arial"/>
                <a:cs typeface="Arial"/>
              </a:rPr>
              <a:t>Hackathon</a:t>
            </a:r>
            <a:endParaRPr lang="en-US" sz="2200" kern="1200" dirty="0">
              <a:solidFill>
                <a:schemeClr val="accent4"/>
              </a:solidFill>
              <a:latin typeface="Arial"/>
              <a:cs typeface="Arial"/>
            </a:endParaRPr>
          </a:p>
        </p:txBody>
      </p:sp>
      <p:sp>
        <p:nvSpPr>
          <p:cNvPr id="69" name="Freeform 68"/>
          <p:cNvSpPr/>
          <p:nvPr/>
        </p:nvSpPr>
        <p:spPr>
          <a:xfrm>
            <a:off x="15145769" y="4778306"/>
            <a:ext cx="6287759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b="1" dirty="0" smtClean="0">
                <a:solidFill>
                  <a:srgbClr val="8064A2"/>
                </a:solidFill>
                <a:latin typeface="Arial"/>
                <a:cs typeface="Arial"/>
              </a:rPr>
              <a:t>Adoption and Integration (</a:t>
            </a:r>
            <a:r>
              <a:rPr lang="en-US" sz="2400" b="1" kern="1200" dirty="0" smtClean="0">
                <a:solidFill>
                  <a:srgbClr val="8064A2"/>
                </a:solidFill>
                <a:latin typeface="Arial"/>
                <a:cs typeface="Arial"/>
              </a:rPr>
              <a:t>NWB 2.x)</a:t>
            </a:r>
            <a:endParaRPr lang="en-US" sz="2400" b="1" kern="1200" dirty="0">
              <a:solidFill>
                <a:srgbClr val="8064A2"/>
              </a:solidFill>
              <a:latin typeface="Arial"/>
              <a:cs typeface="Arial"/>
            </a:endParaRPr>
          </a:p>
        </p:txBody>
      </p:sp>
      <p:cxnSp>
        <p:nvCxnSpPr>
          <p:cNvPr id="70" name="Straight Connector 69"/>
          <p:cNvCxnSpPr/>
          <p:nvPr/>
        </p:nvCxnSpPr>
        <p:spPr>
          <a:xfrm flipV="1">
            <a:off x="14954353" y="3109447"/>
            <a:ext cx="0" cy="364353"/>
          </a:xfrm>
          <a:prstGeom prst="line">
            <a:avLst/>
          </a:prstGeom>
          <a:ln>
            <a:solidFill>
              <a:srgbClr val="4031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>
            <a:spLocks noChangeAspect="1"/>
          </p:cNvSpPr>
          <p:nvPr/>
        </p:nvSpPr>
        <p:spPr>
          <a:xfrm>
            <a:off x="14734537" y="2593776"/>
            <a:ext cx="534694" cy="534694"/>
          </a:xfrm>
          <a:prstGeom prst="ellipse">
            <a:avLst/>
          </a:prstGeom>
          <a:solidFill>
            <a:srgbClr val="CCC1DA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72" name="Freeform 71"/>
          <p:cNvSpPr/>
          <p:nvPr/>
        </p:nvSpPr>
        <p:spPr>
          <a:xfrm>
            <a:off x="13866399" y="3453225"/>
            <a:ext cx="2367408" cy="77562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8064A2"/>
                </a:solidFill>
                <a:latin typeface="Arial"/>
                <a:cs typeface="Arial"/>
              </a:rPr>
              <a:t>NWB Extension Catalog released</a:t>
            </a:r>
            <a:endParaRPr lang="en-US" sz="2200" kern="1200" dirty="0">
              <a:solidFill>
                <a:srgbClr val="8064A2"/>
              </a:solidFill>
              <a:latin typeface="Arial"/>
              <a:cs typeface="Arial"/>
            </a:endParaRPr>
          </a:p>
        </p:txBody>
      </p:sp>
      <p:cxnSp>
        <p:nvCxnSpPr>
          <p:cNvPr id="73" name="Straight Connector 72"/>
          <p:cNvCxnSpPr/>
          <p:nvPr/>
        </p:nvCxnSpPr>
        <p:spPr>
          <a:xfrm flipV="1">
            <a:off x="16097630" y="2290774"/>
            <a:ext cx="0" cy="364353"/>
          </a:xfrm>
          <a:prstGeom prst="line">
            <a:avLst/>
          </a:prstGeom>
          <a:ln>
            <a:solidFill>
              <a:srgbClr val="4031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>
            <a:spLocks noChangeAspect="1"/>
          </p:cNvSpPr>
          <p:nvPr/>
        </p:nvSpPr>
        <p:spPr>
          <a:xfrm>
            <a:off x="15877814" y="2602923"/>
            <a:ext cx="534694" cy="534694"/>
          </a:xfrm>
          <a:prstGeom prst="ellipse">
            <a:avLst/>
          </a:prstGeom>
          <a:solidFill>
            <a:srgbClr val="CCC1DA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75" name="Notched Right Arrow 74"/>
          <p:cNvSpPr/>
          <p:nvPr/>
        </p:nvSpPr>
        <p:spPr>
          <a:xfrm>
            <a:off x="16285857" y="2449300"/>
            <a:ext cx="431275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76" name="Freeform 75"/>
          <p:cNvSpPr/>
          <p:nvPr/>
        </p:nvSpPr>
        <p:spPr>
          <a:xfrm>
            <a:off x="16231038" y="2965545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b="1" i="0" u="none" kern="1200" dirty="0" smtClean="0">
                <a:solidFill>
                  <a:srgbClr val="FFFFFF"/>
                </a:solidFill>
                <a:latin typeface="Arial"/>
                <a:cs typeface="Arial"/>
              </a:rPr>
              <a:t>2020</a:t>
            </a:r>
            <a:endParaRPr lang="en-US" sz="2000" b="1" kern="120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77" name="Freeform 76"/>
          <p:cNvSpPr/>
          <p:nvPr/>
        </p:nvSpPr>
        <p:spPr>
          <a:xfrm>
            <a:off x="16362215" y="3379657"/>
            <a:ext cx="2233211" cy="11034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8064A2"/>
                </a:solidFill>
                <a:latin typeface="Arial"/>
                <a:cs typeface="Arial"/>
              </a:rPr>
              <a:t>Developer </a:t>
            </a:r>
            <a:r>
              <a:rPr lang="en-US" sz="2200" dirty="0" err="1" smtClean="0">
                <a:solidFill>
                  <a:srgbClr val="8064A2"/>
                </a:solidFill>
                <a:latin typeface="Arial"/>
                <a:cs typeface="Arial"/>
              </a:rPr>
              <a:t>Hackathon</a:t>
            </a:r>
            <a:r>
              <a:rPr lang="en-US" sz="2200" dirty="0" smtClean="0">
                <a:solidFill>
                  <a:srgbClr val="8064A2"/>
                </a:solidFill>
                <a:latin typeface="Arial"/>
                <a:cs typeface="Arial"/>
              </a:rPr>
              <a:t> @AIBS</a:t>
            </a:r>
            <a:endParaRPr lang="en-US" sz="2200" kern="1200" dirty="0">
              <a:solidFill>
                <a:srgbClr val="8064A2"/>
              </a:solidFill>
              <a:latin typeface="Arial"/>
              <a:cs typeface="Arial"/>
            </a:endParaRPr>
          </a:p>
        </p:txBody>
      </p:sp>
      <p:cxnSp>
        <p:nvCxnSpPr>
          <p:cNvPr id="78" name="Straight Connector 77"/>
          <p:cNvCxnSpPr/>
          <p:nvPr/>
        </p:nvCxnSpPr>
        <p:spPr>
          <a:xfrm flipV="1">
            <a:off x="17503027" y="3103555"/>
            <a:ext cx="0" cy="364353"/>
          </a:xfrm>
          <a:prstGeom prst="line">
            <a:avLst/>
          </a:prstGeom>
          <a:ln>
            <a:solidFill>
              <a:srgbClr val="4031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>
            <a:spLocks noChangeAspect="1"/>
          </p:cNvSpPr>
          <p:nvPr/>
        </p:nvSpPr>
        <p:spPr>
          <a:xfrm>
            <a:off x="17245508" y="2587884"/>
            <a:ext cx="534694" cy="534694"/>
          </a:xfrm>
          <a:prstGeom prst="ellipse">
            <a:avLst/>
          </a:prstGeom>
          <a:solidFill>
            <a:srgbClr val="CCC1DA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80" name="Straight Connector 79"/>
          <p:cNvCxnSpPr/>
          <p:nvPr/>
        </p:nvCxnSpPr>
        <p:spPr>
          <a:xfrm flipV="1">
            <a:off x="18275266" y="2286017"/>
            <a:ext cx="0" cy="364353"/>
          </a:xfrm>
          <a:prstGeom prst="line">
            <a:avLst/>
          </a:prstGeom>
          <a:ln>
            <a:solidFill>
              <a:srgbClr val="4031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>
            <a:spLocks noChangeAspect="1"/>
          </p:cNvSpPr>
          <p:nvPr/>
        </p:nvSpPr>
        <p:spPr>
          <a:xfrm>
            <a:off x="18034966" y="2586826"/>
            <a:ext cx="534694" cy="534694"/>
          </a:xfrm>
          <a:prstGeom prst="ellipse">
            <a:avLst/>
          </a:prstGeom>
          <a:solidFill>
            <a:srgbClr val="CCC1DA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82" name="Straight Connector 81"/>
          <p:cNvCxnSpPr/>
          <p:nvPr/>
        </p:nvCxnSpPr>
        <p:spPr>
          <a:xfrm flipV="1">
            <a:off x="13789525" y="2283435"/>
            <a:ext cx="0" cy="364353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>
            <a:spLocks noChangeAspect="1"/>
          </p:cNvSpPr>
          <p:nvPr/>
        </p:nvSpPr>
        <p:spPr>
          <a:xfrm>
            <a:off x="13534432" y="2613226"/>
            <a:ext cx="534694" cy="53469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4" name="Freeform 83"/>
          <p:cNvSpPr/>
          <p:nvPr/>
        </p:nvSpPr>
        <p:spPr>
          <a:xfrm>
            <a:off x="13446599" y="2676336"/>
            <a:ext cx="718751" cy="47217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 smtClean="0">
                <a:solidFill>
                  <a:schemeClr val="accent4">
                    <a:lumMod val="75000"/>
                  </a:schemeClr>
                </a:solidFill>
                <a:latin typeface="Arial"/>
                <a:cs typeface="Arial"/>
              </a:rPr>
              <a:t>May</a:t>
            </a:r>
            <a:endParaRPr lang="en-US" b="1" kern="1200" dirty="0">
              <a:solidFill>
                <a:schemeClr val="accent4">
                  <a:lumMod val="75000"/>
                </a:schemeClr>
              </a:solidFill>
              <a:latin typeface="Arial"/>
              <a:cs typeface="Arial"/>
            </a:endParaRPr>
          </a:p>
        </p:txBody>
      </p:sp>
      <p:pic>
        <p:nvPicPr>
          <p:cNvPr id="85" name="Picture 8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7157" y="1017491"/>
            <a:ext cx="1505427" cy="1505427"/>
          </a:xfrm>
          <a:prstGeom prst="rect">
            <a:avLst/>
          </a:prstGeom>
        </p:spPr>
      </p:pic>
      <p:pic>
        <p:nvPicPr>
          <p:cNvPr id="86" name="Picture 8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9039" y="996559"/>
            <a:ext cx="1526360" cy="1526360"/>
          </a:xfrm>
          <a:prstGeom prst="rect">
            <a:avLst/>
          </a:prstGeom>
        </p:spPr>
      </p:pic>
      <p:cxnSp>
        <p:nvCxnSpPr>
          <p:cNvPr id="87" name="Straight Connector 86"/>
          <p:cNvCxnSpPr/>
          <p:nvPr/>
        </p:nvCxnSpPr>
        <p:spPr>
          <a:xfrm flipV="1">
            <a:off x="19090554" y="3104878"/>
            <a:ext cx="0" cy="364353"/>
          </a:xfrm>
          <a:prstGeom prst="line">
            <a:avLst/>
          </a:prstGeom>
          <a:ln>
            <a:solidFill>
              <a:srgbClr val="4031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>
            <a:spLocks noChangeAspect="1"/>
          </p:cNvSpPr>
          <p:nvPr/>
        </p:nvSpPr>
        <p:spPr>
          <a:xfrm>
            <a:off x="18828641" y="2589207"/>
            <a:ext cx="534694" cy="534694"/>
          </a:xfrm>
          <a:prstGeom prst="ellipse">
            <a:avLst/>
          </a:prstGeom>
          <a:solidFill>
            <a:srgbClr val="CCC1DA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9" name="Freeform 88"/>
          <p:cNvSpPr/>
          <p:nvPr/>
        </p:nvSpPr>
        <p:spPr>
          <a:xfrm>
            <a:off x="18330841" y="3379657"/>
            <a:ext cx="1464762" cy="110003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8064A2"/>
                </a:solidFill>
                <a:latin typeface="Arial"/>
                <a:cs typeface="Arial"/>
              </a:rPr>
              <a:t> Virtual User Days</a:t>
            </a:r>
            <a:endParaRPr lang="en-US" sz="2200" kern="1200" dirty="0">
              <a:solidFill>
                <a:srgbClr val="8064A2"/>
              </a:solidFill>
              <a:latin typeface="Arial"/>
              <a:cs typeface="Arial"/>
            </a:endParaRPr>
          </a:p>
        </p:txBody>
      </p:sp>
      <p:sp>
        <p:nvSpPr>
          <p:cNvPr id="90" name="Freeform 89"/>
          <p:cNvSpPr/>
          <p:nvPr/>
        </p:nvSpPr>
        <p:spPr>
          <a:xfrm>
            <a:off x="14690310" y="2656885"/>
            <a:ext cx="569312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 smtClean="0">
                <a:solidFill>
                  <a:srgbClr val="604A7B"/>
                </a:solidFill>
                <a:latin typeface="Arial"/>
                <a:cs typeface="Arial"/>
              </a:rPr>
              <a:t>Oct</a:t>
            </a:r>
            <a:endParaRPr lang="en-US" b="1" kern="1200" dirty="0">
              <a:solidFill>
                <a:srgbClr val="604A7B"/>
              </a:solidFill>
              <a:latin typeface="Arial"/>
              <a:cs typeface="Arial"/>
            </a:endParaRPr>
          </a:p>
        </p:txBody>
      </p:sp>
      <p:sp>
        <p:nvSpPr>
          <p:cNvPr id="91" name="Freeform 90"/>
          <p:cNvSpPr/>
          <p:nvPr/>
        </p:nvSpPr>
        <p:spPr>
          <a:xfrm>
            <a:off x="15763030" y="2648391"/>
            <a:ext cx="770373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rgbClr val="604A7B"/>
                </a:solidFill>
                <a:latin typeface="Arial"/>
                <a:cs typeface="Arial"/>
              </a:rPr>
              <a:t>Dec</a:t>
            </a:r>
            <a:endParaRPr lang="en-US" b="1" kern="1200" dirty="0">
              <a:solidFill>
                <a:srgbClr val="604A7B"/>
              </a:solidFill>
              <a:latin typeface="Arial"/>
              <a:cs typeface="Arial"/>
            </a:endParaRPr>
          </a:p>
        </p:txBody>
      </p:sp>
      <p:sp>
        <p:nvSpPr>
          <p:cNvPr id="92" name="Freeform 91"/>
          <p:cNvSpPr/>
          <p:nvPr/>
        </p:nvSpPr>
        <p:spPr>
          <a:xfrm>
            <a:off x="17130725" y="2633352"/>
            <a:ext cx="789458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rgbClr val="604A7B"/>
                </a:solidFill>
                <a:latin typeface="Arial"/>
                <a:cs typeface="Arial"/>
              </a:rPr>
              <a:t>Feb</a:t>
            </a:r>
            <a:endParaRPr lang="en-US" b="1" kern="1200" dirty="0">
              <a:solidFill>
                <a:srgbClr val="604A7B"/>
              </a:solidFill>
              <a:latin typeface="Arial"/>
              <a:cs typeface="Arial"/>
            </a:endParaRPr>
          </a:p>
        </p:txBody>
      </p:sp>
      <p:sp>
        <p:nvSpPr>
          <p:cNvPr id="93" name="Freeform 92"/>
          <p:cNvSpPr/>
          <p:nvPr/>
        </p:nvSpPr>
        <p:spPr>
          <a:xfrm>
            <a:off x="18026017" y="2632294"/>
            <a:ext cx="569312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rgbClr val="604A7B"/>
                </a:solidFill>
                <a:latin typeface="Arial"/>
                <a:cs typeface="Arial"/>
              </a:rPr>
              <a:t>Apr</a:t>
            </a:r>
            <a:endParaRPr lang="en-US" b="1" kern="1200" dirty="0">
              <a:solidFill>
                <a:srgbClr val="604A7B"/>
              </a:solidFill>
              <a:latin typeface="Arial"/>
              <a:cs typeface="Arial"/>
            </a:endParaRPr>
          </a:p>
        </p:txBody>
      </p:sp>
      <p:sp>
        <p:nvSpPr>
          <p:cNvPr id="94" name="Freeform 93"/>
          <p:cNvSpPr/>
          <p:nvPr/>
        </p:nvSpPr>
        <p:spPr>
          <a:xfrm>
            <a:off x="18731496" y="2634675"/>
            <a:ext cx="747601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 smtClean="0">
                <a:solidFill>
                  <a:srgbClr val="604A7B"/>
                </a:solidFill>
                <a:latin typeface="Arial"/>
                <a:cs typeface="Arial"/>
              </a:rPr>
              <a:t>May</a:t>
            </a:r>
            <a:endParaRPr lang="en-US" b="1" kern="1200" dirty="0">
              <a:solidFill>
                <a:srgbClr val="604A7B"/>
              </a:solidFill>
              <a:latin typeface="Arial"/>
              <a:cs typeface="Arial"/>
            </a:endParaRPr>
          </a:p>
        </p:txBody>
      </p:sp>
      <p:cxnSp>
        <p:nvCxnSpPr>
          <p:cNvPr id="95" name="Straight Connector 94"/>
          <p:cNvCxnSpPr/>
          <p:nvPr/>
        </p:nvCxnSpPr>
        <p:spPr>
          <a:xfrm flipV="1">
            <a:off x="1521064" y="3346714"/>
            <a:ext cx="0" cy="926433"/>
          </a:xfrm>
          <a:prstGeom prst="line">
            <a:avLst/>
          </a:prstGeom>
          <a:ln w="28575" cmpd="sng">
            <a:solidFill>
              <a:srgbClr val="4F82BE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V="1">
            <a:off x="1491990" y="3347006"/>
            <a:ext cx="0" cy="926433"/>
          </a:xfrm>
          <a:prstGeom prst="line">
            <a:avLst/>
          </a:prstGeom>
          <a:ln w="28575" cmpd="sng">
            <a:solidFill>
              <a:srgbClr val="7F7F7F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 flipV="1">
            <a:off x="13507843" y="3347006"/>
            <a:ext cx="0" cy="926433"/>
          </a:xfrm>
          <a:prstGeom prst="line">
            <a:avLst/>
          </a:prstGeom>
          <a:ln w="28575" cmpd="sng">
            <a:solidFill>
              <a:srgbClr val="4F82BE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 flipV="1">
            <a:off x="13542779" y="3345839"/>
            <a:ext cx="0" cy="926433"/>
          </a:xfrm>
          <a:prstGeom prst="line">
            <a:avLst/>
          </a:prstGeom>
          <a:ln w="28575" cmpd="sng">
            <a:solidFill>
              <a:schemeClr val="accent4"/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V="1">
            <a:off x="19933077" y="2274075"/>
            <a:ext cx="0" cy="364353"/>
          </a:xfrm>
          <a:prstGeom prst="line">
            <a:avLst/>
          </a:prstGeom>
          <a:ln>
            <a:solidFill>
              <a:srgbClr val="4031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>
            <a:spLocks noChangeAspect="1"/>
          </p:cNvSpPr>
          <p:nvPr/>
        </p:nvSpPr>
        <p:spPr>
          <a:xfrm>
            <a:off x="19672293" y="2588010"/>
            <a:ext cx="534694" cy="534694"/>
          </a:xfrm>
          <a:prstGeom prst="ellipse">
            <a:avLst/>
          </a:prstGeom>
          <a:solidFill>
            <a:srgbClr val="CCC1DA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1" name="Freeform 100"/>
          <p:cNvSpPr/>
          <p:nvPr/>
        </p:nvSpPr>
        <p:spPr>
          <a:xfrm>
            <a:off x="19663344" y="2579378"/>
            <a:ext cx="569312" cy="531185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 smtClean="0">
                <a:solidFill>
                  <a:srgbClr val="604A7B"/>
                </a:solidFill>
                <a:latin typeface="Arial"/>
                <a:cs typeface="Arial"/>
              </a:rPr>
              <a:t>Sep</a:t>
            </a:r>
            <a:endParaRPr lang="en-US" b="1" kern="1200" dirty="0">
              <a:solidFill>
                <a:srgbClr val="604A7B"/>
              </a:solidFill>
              <a:latin typeface="Arial"/>
              <a:cs typeface="Arial"/>
            </a:endParaRPr>
          </a:p>
        </p:txBody>
      </p:sp>
      <p:sp>
        <p:nvSpPr>
          <p:cNvPr id="102" name="Freeform 101"/>
          <p:cNvSpPr/>
          <p:nvPr/>
        </p:nvSpPr>
        <p:spPr>
          <a:xfrm>
            <a:off x="19133852" y="1177910"/>
            <a:ext cx="1464762" cy="110003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8064A2"/>
                </a:solidFill>
                <a:latin typeface="Arial"/>
                <a:cs typeface="Arial"/>
              </a:rPr>
              <a:t> Virtual User Days</a:t>
            </a:r>
            <a:endParaRPr lang="en-US" sz="2200" kern="1200" dirty="0">
              <a:solidFill>
                <a:srgbClr val="8064A2"/>
              </a:solidFill>
              <a:latin typeface="Arial"/>
              <a:cs typeface="Arial"/>
            </a:endParaRPr>
          </a:p>
        </p:txBody>
      </p:sp>
      <p:sp>
        <p:nvSpPr>
          <p:cNvPr id="107" name="Oval 106"/>
          <p:cNvSpPr>
            <a:spLocks noChangeAspect="1"/>
          </p:cNvSpPr>
          <p:nvPr/>
        </p:nvSpPr>
        <p:spPr>
          <a:xfrm>
            <a:off x="-2471967" y="2614776"/>
            <a:ext cx="534694" cy="534694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08" name="Straight Connector 107"/>
          <p:cNvCxnSpPr/>
          <p:nvPr/>
        </p:nvCxnSpPr>
        <p:spPr>
          <a:xfrm flipV="1">
            <a:off x="-2209252" y="2282818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-2544403" y="2657433"/>
            <a:ext cx="716693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 smtClean="0">
                <a:solidFill>
                  <a:schemeClr val="bg1"/>
                </a:solidFill>
                <a:latin typeface="Arial"/>
                <a:cs typeface="Arial"/>
              </a:rPr>
              <a:t>Feb</a:t>
            </a:r>
            <a:endParaRPr lang="en-US" b="1" kern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10" name="Freeform 109"/>
          <p:cNvSpPr/>
          <p:nvPr/>
        </p:nvSpPr>
        <p:spPr>
          <a:xfrm>
            <a:off x="-3242105" y="1566494"/>
            <a:ext cx="2065705" cy="7245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err="1" smtClean="0">
                <a:solidFill>
                  <a:srgbClr val="052B48"/>
                </a:solidFill>
                <a:latin typeface="Arial"/>
                <a:cs typeface="Arial"/>
              </a:rPr>
              <a:t>Kavli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Salon: NWB 1 </a:t>
            </a:r>
            <a:r>
              <a:rPr lang="en-US" sz="2200" dirty="0" smtClean="0">
                <a:solidFill>
                  <a:srgbClr val="052B48"/>
                </a:solidFill>
                <a:latin typeface="Arial"/>
                <a:cs typeface="Arial"/>
              </a:rPr>
              <a:t>in</a:t>
            </a:r>
            <a:r>
              <a:rPr lang="en-US" sz="2200" kern="1200" dirty="0" smtClean="0">
                <a:solidFill>
                  <a:srgbClr val="052B48"/>
                </a:solidFill>
                <a:latin typeface="Arial"/>
                <a:cs typeface="Arial"/>
              </a:rPr>
              <a:t> Chicago</a:t>
            </a:r>
            <a:endParaRPr lang="en-US" sz="2200" kern="1200" dirty="0">
              <a:solidFill>
                <a:srgbClr val="052B48"/>
              </a:solidFill>
              <a:latin typeface="Arial"/>
              <a:cs typeface="Arial"/>
            </a:endParaRPr>
          </a:p>
        </p:txBody>
      </p:sp>
      <p:sp>
        <p:nvSpPr>
          <p:cNvPr id="111" name="Notched Right Arrow 110"/>
          <p:cNvSpPr/>
          <p:nvPr/>
        </p:nvSpPr>
        <p:spPr>
          <a:xfrm>
            <a:off x="20173565" y="2451367"/>
            <a:ext cx="2870251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4">
              <a:lumMod val="5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12" name="Freeform 111"/>
          <p:cNvSpPr/>
          <p:nvPr/>
        </p:nvSpPr>
        <p:spPr>
          <a:xfrm>
            <a:off x="20210802" y="295077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b="1" i="0" u="none" kern="1200" dirty="0" smtClean="0">
                <a:solidFill>
                  <a:srgbClr val="FFFFFF"/>
                </a:solidFill>
                <a:latin typeface="Arial"/>
                <a:cs typeface="Arial"/>
              </a:rPr>
              <a:t>2021</a:t>
            </a:r>
            <a:endParaRPr lang="en-US" sz="2000" b="1" kern="120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cxnSp>
        <p:nvCxnSpPr>
          <p:cNvPr id="106" name="Straight Connector 105"/>
          <p:cNvCxnSpPr/>
          <p:nvPr/>
        </p:nvCxnSpPr>
        <p:spPr>
          <a:xfrm flipV="1">
            <a:off x="22236188" y="2322344"/>
            <a:ext cx="0" cy="364353"/>
          </a:xfrm>
          <a:prstGeom prst="line">
            <a:avLst/>
          </a:prstGeom>
          <a:ln>
            <a:gradFill flip="none" rotWithShape="1">
              <a:gsLst>
                <a:gs pos="0">
                  <a:srgbClr val="403152"/>
                </a:gs>
                <a:gs pos="100000">
                  <a:srgbClr val="FFFFFF"/>
                </a:gs>
              </a:gsLst>
              <a:lin ang="16200000" scaled="0"/>
              <a:tileRect/>
            </a:gra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>
            <a:spLocks noChangeAspect="1"/>
          </p:cNvSpPr>
          <p:nvPr/>
        </p:nvSpPr>
        <p:spPr>
          <a:xfrm>
            <a:off x="21967308" y="2594937"/>
            <a:ext cx="534694" cy="534694"/>
          </a:xfrm>
          <a:prstGeom prst="ellipse">
            <a:avLst/>
          </a:prstGeom>
          <a:solidFill>
            <a:srgbClr val="CCC1DA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Freeform 103"/>
          <p:cNvSpPr/>
          <p:nvPr/>
        </p:nvSpPr>
        <p:spPr>
          <a:xfrm>
            <a:off x="21958359" y="2586305"/>
            <a:ext cx="569312" cy="531185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kern="1200" dirty="0" smtClean="0">
                <a:solidFill>
                  <a:srgbClr val="604A7B"/>
                </a:solidFill>
                <a:latin typeface="Arial"/>
                <a:cs typeface="Arial"/>
              </a:rPr>
              <a:t>Apr</a:t>
            </a:r>
            <a:endParaRPr lang="en-US" b="1" kern="1200" dirty="0">
              <a:solidFill>
                <a:srgbClr val="604A7B"/>
              </a:solidFill>
              <a:latin typeface="Arial"/>
              <a:cs typeface="Arial"/>
            </a:endParaRPr>
          </a:p>
        </p:txBody>
      </p:sp>
      <p:sp>
        <p:nvSpPr>
          <p:cNvPr id="105" name="Freeform 104"/>
          <p:cNvSpPr/>
          <p:nvPr/>
        </p:nvSpPr>
        <p:spPr>
          <a:xfrm>
            <a:off x="21328801" y="1131753"/>
            <a:ext cx="1862905" cy="1104061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 dirty="0" smtClean="0">
                <a:solidFill>
                  <a:schemeClr val="accent4"/>
                </a:solidFill>
                <a:latin typeface="Arial"/>
                <a:cs typeface="Arial"/>
              </a:rPr>
              <a:t>NIH U24 Integration/  Dissemination</a:t>
            </a:r>
            <a:endParaRPr lang="en-US" sz="2000" kern="1200" dirty="0">
              <a:solidFill>
                <a:schemeClr val="accent4"/>
              </a:solidFill>
              <a:latin typeface="Arial"/>
              <a:cs typeface="Arial"/>
            </a:endParaRPr>
          </a:p>
        </p:txBody>
      </p:sp>
      <p:cxnSp>
        <p:nvCxnSpPr>
          <p:cNvPr id="113" name="Straight Connector 112"/>
          <p:cNvCxnSpPr/>
          <p:nvPr/>
        </p:nvCxnSpPr>
        <p:spPr>
          <a:xfrm flipV="1">
            <a:off x="21415253" y="3123490"/>
            <a:ext cx="0" cy="364353"/>
          </a:xfrm>
          <a:prstGeom prst="line">
            <a:avLst/>
          </a:prstGeom>
          <a:ln>
            <a:gradFill flip="none" rotWithShape="1">
              <a:gsLst>
                <a:gs pos="0">
                  <a:srgbClr val="403152"/>
                </a:gs>
                <a:gs pos="100000">
                  <a:srgbClr val="FFFFFF"/>
                </a:gs>
              </a:gsLst>
              <a:lin ang="5400000" scaled="0"/>
              <a:tileRect/>
            </a:gra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>
            <a:spLocks noChangeAspect="1"/>
          </p:cNvSpPr>
          <p:nvPr/>
        </p:nvSpPr>
        <p:spPr>
          <a:xfrm>
            <a:off x="21153340" y="2607819"/>
            <a:ext cx="534694" cy="534694"/>
          </a:xfrm>
          <a:prstGeom prst="ellipse">
            <a:avLst/>
          </a:prstGeom>
          <a:solidFill>
            <a:srgbClr val="CCC1DA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5" name="Freeform 114"/>
          <p:cNvSpPr/>
          <p:nvPr/>
        </p:nvSpPr>
        <p:spPr>
          <a:xfrm>
            <a:off x="21056195" y="2653287"/>
            <a:ext cx="747601" cy="472183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 smtClean="0">
                <a:solidFill>
                  <a:srgbClr val="604A7B"/>
                </a:solidFill>
                <a:latin typeface="Arial"/>
                <a:cs typeface="Arial"/>
              </a:rPr>
              <a:t>Mar</a:t>
            </a:r>
            <a:endParaRPr lang="en-US" b="1" kern="1200" dirty="0">
              <a:solidFill>
                <a:srgbClr val="604A7B"/>
              </a:solidFill>
              <a:latin typeface="Arial"/>
              <a:cs typeface="Arial"/>
            </a:endParaRPr>
          </a:p>
        </p:txBody>
      </p:sp>
      <p:sp>
        <p:nvSpPr>
          <p:cNvPr id="116" name="Freeform 115"/>
          <p:cNvSpPr/>
          <p:nvPr/>
        </p:nvSpPr>
        <p:spPr>
          <a:xfrm>
            <a:off x="20199233" y="3420439"/>
            <a:ext cx="2476949" cy="110003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8064A2"/>
                </a:solidFill>
                <a:latin typeface="Arial"/>
                <a:cs typeface="Arial"/>
              </a:rPr>
              <a:t> NWB+DANDI Virtual Developer Days</a:t>
            </a:r>
            <a:endParaRPr lang="en-US" sz="2200" kern="1200" dirty="0">
              <a:solidFill>
                <a:srgbClr val="8064A2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841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Previous Versions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51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Notched Right Arrow 169"/>
          <p:cNvSpPr/>
          <p:nvPr/>
        </p:nvSpPr>
        <p:spPr>
          <a:xfrm>
            <a:off x="-1129233" y="2533718"/>
            <a:ext cx="205542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8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1" name="Oval 170"/>
          <p:cNvSpPr>
            <a:spLocks noChangeAspect="1"/>
          </p:cNvSpPr>
          <p:nvPr/>
        </p:nvSpPr>
        <p:spPr>
          <a:xfrm>
            <a:off x="-236554" y="2752118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72" name="Straight Connector 171"/>
          <p:cNvCxnSpPr/>
          <p:nvPr/>
        </p:nvCxnSpPr>
        <p:spPr>
          <a:xfrm flipV="1">
            <a:off x="-5688" y="320169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Freeform 172"/>
          <p:cNvSpPr/>
          <p:nvPr/>
        </p:nvSpPr>
        <p:spPr>
          <a:xfrm>
            <a:off x="-1167469" y="3031665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2014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4" name="Freeform 173"/>
          <p:cNvSpPr/>
          <p:nvPr/>
        </p:nvSpPr>
        <p:spPr>
          <a:xfrm>
            <a:off x="-294599" y="2777134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75" name="Freeform 174"/>
          <p:cNvSpPr/>
          <p:nvPr/>
        </p:nvSpPr>
        <p:spPr>
          <a:xfrm>
            <a:off x="-836316" y="3532920"/>
            <a:ext cx="1633156" cy="116274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1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st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76" name="Notched Right Arrow 175"/>
          <p:cNvSpPr/>
          <p:nvPr/>
        </p:nvSpPr>
        <p:spPr>
          <a:xfrm>
            <a:off x="500785" y="2533718"/>
            <a:ext cx="4116890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7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7" name="Freeform 176"/>
          <p:cNvSpPr/>
          <p:nvPr/>
        </p:nvSpPr>
        <p:spPr>
          <a:xfrm>
            <a:off x="434084" y="3031665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2015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8" name="Freeform 177"/>
          <p:cNvSpPr/>
          <p:nvPr/>
        </p:nvSpPr>
        <p:spPr>
          <a:xfrm>
            <a:off x="677526" y="1292129"/>
            <a:ext cx="1633156" cy="108178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2</a:t>
            </a:r>
            <a:r>
              <a:rPr lang="en-US" sz="23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300" kern="1200" dirty="0" smtClean="0">
                <a:solidFill>
                  <a:srgbClr val="052B48"/>
                </a:solidFill>
              </a:rPr>
              <a:t> NWB Hackathon at HHMI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79" name="Oval 178"/>
          <p:cNvSpPr>
            <a:spLocks noChangeAspect="1"/>
          </p:cNvSpPr>
          <p:nvPr/>
        </p:nvSpPr>
        <p:spPr>
          <a:xfrm>
            <a:off x="1267165" y="2752118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0" name="Straight Connector 179"/>
          <p:cNvCxnSpPr/>
          <p:nvPr/>
        </p:nvCxnSpPr>
        <p:spPr>
          <a:xfrm flipV="1">
            <a:off x="1489954" y="2367236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Freeform 180"/>
          <p:cNvSpPr/>
          <p:nvPr/>
        </p:nvSpPr>
        <p:spPr>
          <a:xfrm>
            <a:off x="1209120" y="2777134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May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2" name="Oval 181"/>
          <p:cNvSpPr>
            <a:spLocks noChangeAspect="1"/>
          </p:cNvSpPr>
          <p:nvPr/>
        </p:nvSpPr>
        <p:spPr>
          <a:xfrm>
            <a:off x="2379640" y="2752118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3" name="Straight Connector 182"/>
          <p:cNvCxnSpPr/>
          <p:nvPr/>
        </p:nvCxnSpPr>
        <p:spPr>
          <a:xfrm flipV="1">
            <a:off x="2615332" y="320489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 183"/>
          <p:cNvSpPr/>
          <p:nvPr/>
        </p:nvSpPr>
        <p:spPr>
          <a:xfrm>
            <a:off x="2321595" y="2777134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Aug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5" name="Freeform 184"/>
          <p:cNvSpPr/>
          <p:nvPr/>
        </p:nvSpPr>
        <p:spPr>
          <a:xfrm>
            <a:off x="1800328" y="3673944"/>
            <a:ext cx="1633156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NWB:N 1.0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86" name="Notched Right Arrow 185"/>
          <p:cNvSpPr/>
          <p:nvPr/>
        </p:nvSpPr>
        <p:spPr>
          <a:xfrm>
            <a:off x="4192890" y="2531651"/>
            <a:ext cx="225528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6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87" name="Oval 186"/>
          <p:cNvSpPr>
            <a:spLocks noChangeAspect="1"/>
          </p:cNvSpPr>
          <p:nvPr/>
        </p:nvSpPr>
        <p:spPr>
          <a:xfrm>
            <a:off x="5106140" y="2750051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88" name="Freeform 187"/>
          <p:cNvSpPr/>
          <p:nvPr/>
        </p:nvSpPr>
        <p:spPr>
          <a:xfrm>
            <a:off x="4126190" y="3029598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2016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89" name="Freeform 188"/>
          <p:cNvSpPr/>
          <p:nvPr/>
        </p:nvSpPr>
        <p:spPr>
          <a:xfrm>
            <a:off x="5048095" y="277506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cxnSp>
        <p:nvCxnSpPr>
          <p:cNvPr id="190" name="Straight Connector 189"/>
          <p:cNvCxnSpPr/>
          <p:nvPr/>
        </p:nvCxnSpPr>
        <p:spPr>
          <a:xfrm flipV="1">
            <a:off x="5333676" y="3209140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 190"/>
          <p:cNvSpPr/>
          <p:nvPr/>
        </p:nvSpPr>
        <p:spPr>
          <a:xfrm>
            <a:off x="4266924" y="3673944"/>
            <a:ext cx="2181253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1.0.5g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2" name="Notched Right Arrow 191"/>
          <p:cNvSpPr/>
          <p:nvPr/>
        </p:nvSpPr>
        <p:spPr>
          <a:xfrm>
            <a:off x="5976581" y="2531651"/>
            <a:ext cx="6078882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93" name="Oval 192"/>
          <p:cNvSpPr>
            <a:spLocks noChangeAspect="1"/>
          </p:cNvSpPr>
          <p:nvPr/>
        </p:nvSpPr>
        <p:spPr>
          <a:xfrm>
            <a:off x="7017060" y="2750051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94" name="Straight Connector 193"/>
          <p:cNvCxnSpPr>
            <a:stCxn id="193" idx="0"/>
          </p:cNvCxnSpPr>
          <p:nvPr/>
        </p:nvCxnSpPr>
        <p:spPr>
          <a:xfrm flipV="1">
            <a:off x="7239849" y="2399210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Freeform 194"/>
          <p:cNvSpPr/>
          <p:nvPr/>
        </p:nvSpPr>
        <p:spPr>
          <a:xfrm>
            <a:off x="5996577" y="3029598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2017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96" name="Freeform 195"/>
          <p:cNvSpPr/>
          <p:nvPr/>
        </p:nvSpPr>
        <p:spPr>
          <a:xfrm>
            <a:off x="6955193" y="2777878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197" name="Freeform 196"/>
          <p:cNvSpPr/>
          <p:nvPr/>
        </p:nvSpPr>
        <p:spPr>
          <a:xfrm>
            <a:off x="5923219" y="1215072"/>
            <a:ext cx="2635110" cy="1237734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KAVLI funds NWB4HPC Project led by LBNL 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98" name="Freeform 197"/>
          <p:cNvSpPr/>
          <p:nvPr/>
        </p:nvSpPr>
        <p:spPr>
          <a:xfrm>
            <a:off x="7624869" y="3499598"/>
            <a:ext cx="1633156" cy="115568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>
                <a:solidFill>
                  <a:srgbClr val="052B48"/>
                </a:solidFill>
              </a:rPr>
              <a:t>3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9" name="Oval 198"/>
          <p:cNvSpPr>
            <a:spLocks noChangeAspect="1"/>
          </p:cNvSpPr>
          <p:nvPr/>
        </p:nvSpPr>
        <p:spPr>
          <a:xfrm>
            <a:off x="8189337" y="2750051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0" name="Straight Connector 199"/>
          <p:cNvCxnSpPr/>
          <p:nvPr/>
        </p:nvCxnSpPr>
        <p:spPr>
          <a:xfrm flipV="1">
            <a:off x="8412126" y="320430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Freeform 200"/>
          <p:cNvSpPr/>
          <p:nvPr/>
        </p:nvSpPr>
        <p:spPr>
          <a:xfrm>
            <a:off x="8127470" y="2777878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Jul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2" name="Oval 201"/>
          <p:cNvSpPr>
            <a:spLocks noChangeAspect="1"/>
          </p:cNvSpPr>
          <p:nvPr/>
        </p:nvSpPr>
        <p:spPr>
          <a:xfrm>
            <a:off x="9385117" y="2747240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3" name="Straight Connector 202"/>
          <p:cNvCxnSpPr>
            <a:stCxn id="202" idx="0"/>
          </p:cNvCxnSpPr>
          <p:nvPr/>
        </p:nvCxnSpPr>
        <p:spPr>
          <a:xfrm flipV="1">
            <a:off x="9607906" y="239639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Freeform 203"/>
          <p:cNvSpPr/>
          <p:nvPr/>
        </p:nvSpPr>
        <p:spPr>
          <a:xfrm>
            <a:off x="9323250" y="277506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Aug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5" name="Freeform 204"/>
          <p:cNvSpPr/>
          <p:nvPr/>
        </p:nvSpPr>
        <p:spPr>
          <a:xfrm>
            <a:off x="8488693" y="1649342"/>
            <a:ext cx="2232399" cy="749867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NWB Executive Board Founded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06" name="Freeform 205"/>
          <p:cNvSpPr/>
          <p:nvPr/>
        </p:nvSpPr>
        <p:spPr>
          <a:xfrm>
            <a:off x="9799983" y="3558083"/>
            <a:ext cx="2151831" cy="130326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2.0beta, PyNWB, and MatNWB released (</a:t>
            </a:r>
            <a:r>
              <a:rPr lang="en-US" sz="2200" dirty="0" err="1" smtClean="0">
                <a:solidFill>
                  <a:srgbClr val="052B48"/>
                </a:solidFill>
              </a:rPr>
              <a:t>SfN</a:t>
            </a:r>
            <a:r>
              <a:rPr lang="en-US" sz="2200" dirty="0" smtClean="0">
                <a:solidFill>
                  <a:srgbClr val="052B48"/>
                </a:solidFill>
              </a:rPr>
              <a:t>)  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207" name="Oval 206"/>
          <p:cNvSpPr>
            <a:spLocks noChangeAspect="1"/>
          </p:cNvSpPr>
          <p:nvPr/>
        </p:nvSpPr>
        <p:spPr>
          <a:xfrm>
            <a:off x="10640096" y="2740328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8" name="Straight Connector 207"/>
          <p:cNvCxnSpPr/>
          <p:nvPr/>
        </p:nvCxnSpPr>
        <p:spPr>
          <a:xfrm flipV="1">
            <a:off x="10862885" y="319984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 208"/>
          <p:cNvSpPr/>
          <p:nvPr/>
        </p:nvSpPr>
        <p:spPr>
          <a:xfrm>
            <a:off x="10578229" y="276815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0" name="Notched Right Arrow 209"/>
          <p:cNvSpPr/>
          <p:nvPr/>
        </p:nvSpPr>
        <p:spPr>
          <a:xfrm>
            <a:off x="11629500" y="2531651"/>
            <a:ext cx="435604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/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11" name="Freeform 210"/>
          <p:cNvSpPr/>
          <p:nvPr/>
        </p:nvSpPr>
        <p:spPr>
          <a:xfrm>
            <a:off x="2882186" y="1709501"/>
            <a:ext cx="1633156" cy="72965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Neuron Paper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2" name="Oval 211"/>
          <p:cNvSpPr>
            <a:spLocks noChangeAspect="1"/>
          </p:cNvSpPr>
          <p:nvPr/>
        </p:nvSpPr>
        <p:spPr>
          <a:xfrm>
            <a:off x="3471137" y="2744955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3" name="Straight Connector 212"/>
          <p:cNvCxnSpPr/>
          <p:nvPr/>
        </p:nvCxnSpPr>
        <p:spPr>
          <a:xfrm flipV="1">
            <a:off x="3693926" y="2369303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Freeform 213"/>
          <p:cNvSpPr/>
          <p:nvPr/>
        </p:nvSpPr>
        <p:spPr>
          <a:xfrm>
            <a:off x="3413092" y="276997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215" name="Freeform 214"/>
          <p:cNvSpPr/>
          <p:nvPr/>
        </p:nvSpPr>
        <p:spPr>
          <a:xfrm>
            <a:off x="12241675" y="1003025"/>
            <a:ext cx="2151637" cy="137089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4</a:t>
            </a:r>
            <a:r>
              <a:rPr lang="en-US" sz="2300" baseline="30000" dirty="0" smtClean="0">
                <a:solidFill>
                  <a:srgbClr val="052B48"/>
                </a:solidFill>
              </a:rPr>
              <a:t>th</a:t>
            </a:r>
            <a:r>
              <a:rPr lang="en-US" sz="2300" dirty="0" smtClean="0">
                <a:solidFill>
                  <a:srgbClr val="052B48"/>
                </a:solidFill>
              </a:rPr>
              <a:t> NWB Developer Hackathon at AIBS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6" name="Oval 215"/>
          <p:cNvSpPr>
            <a:spLocks noChangeAspect="1"/>
          </p:cNvSpPr>
          <p:nvPr/>
        </p:nvSpPr>
        <p:spPr>
          <a:xfrm>
            <a:off x="13089237" y="2742144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7" name="Straight Connector 216"/>
          <p:cNvCxnSpPr/>
          <p:nvPr/>
        </p:nvCxnSpPr>
        <p:spPr>
          <a:xfrm flipV="1">
            <a:off x="13312026" y="2384363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>
            <a:off x="13027370" y="276997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Apr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9" name="Freeform 218"/>
          <p:cNvSpPr/>
          <p:nvPr/>
        </p:nvSpPr>
        <p:spPr>
          <a:xfrm>
            <a:off x="12477278" y="3557985"/>
            <a:ext cx="1674385" cy="13162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5</a:t>
            </a:r>
            <a:r>
              <a:rPr lang="en-US" sz="2200" baseline="30000" dirty="0" smtClean="0">
                <a:solidFill>
                  <a:srgbClr val="052B48"/>
                </a:solidFill>
              </a:rPr>
              <a:t>th</a:t>
            </a:r>
            <a:r>
              <a:rPr lang="en-US" sz="2200" dirty="0" smtClean="0">
                <a:solidFill>
                  <a:srgbClr val="052B48"/>
                </a:solidFill>
              </a:rPr>
              <a:t> NWB User Hackathon at LBNL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cxnSp>
        <p:nvCxnSpPr>
          <p:cNvPr id="220" name="Straight Connector 219"/>
          <p:cNvCxnSpPr/>
          <p:nvPr/>
        </p:nvCxnSpPr>
        <p:spPr>
          <a:xfrm flipV="1">
            <a:off x="13312026" y="3204045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Freeform 220"/>
          <p:cNvSpPr/>
          <p:nvPr/>
        </p:nvSpPr>
        <p:spPr>
          <a:xfrm>
            <a:off x="11639924" y="303760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2018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cxnSp>
        <p:nvCxnSpPr>
          <p:cNvPr id="222" name="Straight Connector 221"/>
          <p:cNvCxnSpPr/>
          <p:nvPr/>
        </p:nvCxnSpPr>
        <p:spPr>
          <a:xfrm flipV="1">
            <a:off x="15366958" y="2369303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Freeform 222"/>
          <p:cNvSpPr/>
          <p:nvPr/>
        </p:nvSpPr>
        <p:spPr>
          <a:xfrm>
            <a:off x="14671818" y="1053296"/>
            <a:ext cx="1398235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Welcome to SfN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24" name="Oval 223"/>
          <p:cNvSpPr>
            <a:spLocks noChangeAspect="1"/>
          </p:cNvSpPr>
          <p:nvPr/>
        </p:nvSpPr>
        <p:spPr>
          <a:xfrm>
            <a:off x="15144169" y="2740328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5" name="Freeform 224"/>
          <p:cNvSpPr/>
          <p:nvPr/>
        </p:nvSpPr>
        <p:spPr>
          <a:xfrm>
            <a:off x="15082302" y="276815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35" name="Left Brace 234"/>
          <p:cNvSpPr/>
          <p:nvPr/>
        </p:nvSpPr>
        <p:spPr>
          <a:xfrm rot="16200000">
            <a:off x="2262382" y="1304050"/>
            <a:ext cx="351662" cy="7134888"/>
          </a:xfrm>
          <a:prstGeom prst="leftBrace">
            <a:avLst/>
          </a:prstGeom>
          <a:ln w="28575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6" name="Left Brace 235"/>
          <p:cNvSpPr/>
          <p:nvPr/>
        </p:nvSpPr>
        <p:spPr>
          <a:xfrm rot="16200000">
            <a:off x="11647090" y="-945774"/>
            <a:ext cx="351659" cy="11634526"/>
          </a:xfrm>
          <a:prstGeom prst="leftBrace">
            <a:avLst/>
          </a:prstGeom>
          <a:ln w="28575" cmpd="sng"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7" name="Freeform 236"/>
          <p:cNvSpPr/>
          <p:nvPr/>
        </p:nvSpPr>
        <p:spPr>
          <a:xfrm>
            <a:off x="1616920" y="5012548"/>
            <a:ext cx="163315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NWB:N 1.0</a:t>
            </a:r>
            <a:endParaRPr lang="en-US" sz="2200" b="1" kern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8" name="Freeform 237"/>
          <p:cNvSpPr/>
          <p:nvPr/>
        </p:nvSpPr>
        <p:spPr>
          <a:xfrm>
            <a:off x="6005657" y="5012548"/>
            <a:ext cx="1163452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2">
                    <a:lumMod val="75000"/>
                  </a:schemeClr>
                </a:solidFill>
              </a:rPr>
              <a:t>NWB:N 2.0</a:t>
            </a:r>
            <a:endParaRPr lang="en-US" sz="2200" b="1" kern="12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240" name="Straight Connector 239"/>
          <p:cNvCxnSpPr/>
          <p:nvPr/>
        </p:nvCxnSpPr>
        <p:spPr>
          <a:xfrm flipV="1">
            <a:off x="14832533" y="320489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240"/>
          <p:cNvSpPr>
            <a:spLocks noChangeAspect="1"/>
          </p:cNvSpPr>
          <p:nvPr/>
        </p:nvSpPr>
        <p:spPr>
          <a:xfrm>
            <a:off x="14613101" y="2742144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42" name="Freeform 241"/>
          <p:cNvSpPr/>
          <p:nvPr/>
        </p:nvSpPr>
        <p:spPr>
          <a:xfrm>
            <a:off x="14551234" y="276997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Oct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43" name="Freeform 242"/>
          <p:cNvSpPr/>
          <p:nvPr/>
        </p:nvSpPr>
        <p:spPr>
          <a:xfrm>
            <a:off x="14117031" y="3481936"/>
            <a:ext cx="1443871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NIH   funds NWB:N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nl-NL" sz="1200" dirty="0"/>
              <a:t>1R24MH116922-01</a:t>
            </a:r>
            <a:endParaRPr lang="en-US" sz="1200" kern="1200" dirty="0">
              <a:solidFill>
                <a:srgbClr val="052B48"/>
              </a:solidFill>
            </a:endParaRPr>
          </a:p>
        </p:txBody>
      </p:sp>
      <p:sp>
        <p:nvSpPr>
          <p:cNvPr id="244" name="Left Brace 243"/>
          <p:cNvSpPr/>
          <p:nvPr/>
        </p:nvSpPr>
        <p:spPr>
          <a:xfrm rot="16200000">
            <a:off x="20238682" y="2104810"/>
            <a:ext cx="351660" cy="5548654"/>
          </a:xfrm>
          <a:prstGeom prst="leftBrace">
            <a:avLst/>
          </a:prstGeom>
          <a:ln w="28575" cmpd="sng">
            <a:solidFill>
              <a:srgbClr val="C55B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8" name="Notched Right Arrow 77"/>
          <p:cNvSpPr/>
          <p:nvPr/>
        </p:nvSpPr>
        <p:spPr>
          <a:xfrm>
            <a:off x="15567851" y="2531651"/>
            <a:ext cx="5646708" cy="885739"/>
          </a:xfrm>
          <a:prstGeom prst="notchedRightArrow">
            <a:avLst>
              <a:gd name="adj1" fmla="val 100000"/>
              <a:gd name="adj2" fmla="val 47999"/>
            </a:avLst>
          </a:prstGeom>
          <a:gradFill flip="none" rotWithShape="1">
            <a:gsLst>
              <a:gs pos="54000">
                <a:schemeClr val="accent1">
                  <a:lumMod val="75000"/>
                </a:schemeClr>
              </a:gs>
              <a:gs pos="80000">
                <a:schemeClr val="accent6"/>
              </a:gs>
            </a:gsLst>
            <a:lin ang="0" scaled="1"/>
            <a:tileRect/>
          </a:gra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cxnSp>
        <p:nvCxnSpPr>
          <p:cNvPr id="79" name="Straight Connector 78"/>
          <p:cNvCxnSpPr/>
          <p:nvPr/>
        </p:nvCxnSpPr>
        <p:spPr>
          <a:xfrm flipV="1">
            <a:off x="18268257" y="236263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>
            <a:spLocks noChangeAspect="1"/>
          </p:cNvSpPr>
          <p:nvPr/>
        </p:nvSpPr>
        <p:spPr>
          <a:xfrm>
            <a:off x="18045468" y="273365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1" name="Freeform 80"/>
          <p:cNvSpPr/>
          <p:nvPr/>
        </p:nvSpPr>
        <p:spPr>
          <a:xfrm>
            <a:off x="17983601" y="276148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May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16803244" y="3198219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>
            <a:spLocks noChangeAspect="1"/>
          </p:cNvSpPr>
          <p:nvPr/>
        </p:nvSpPr>
        <p:spPr>
          <a:xfrm>
            <a:off x="16594768" y="2735472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4" name="Freeform 83"/>
          <p:cNvSpPr/>
          <p:nvPr/>
        </p:nvSpPr>
        <p:spPr>
          <a:xfrm>
            <a:off x="16532901" y="276329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85" name="Freeform 84"/>
          <p:cNvSpPr/>
          <p:nvPr/>
        </p:nvSpPr>
        <p:spPr>
          <a:xfrm>
            <a:off x="16101012" y="3573493"/>
            <a:ext cx="1624490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NWB:N 2.0, </a:t>
            </a:r>
            <a:r>
              <a:rPr lang="en-US" sz="2300" dirty="0" err="1" smtClean="0">
                <a:solidFill>
                  <a:srgbClr val="052B48"/>
                </a:solidFill>
              </a:rPr>
              <a:t>PyNWB</a:t>
            </a:r>
            <a:r>
              <a:rPr lang="en-US" sz="2300" dirty="0" smtClean="0">
                <a:solidFill>
                  <a:srgbClr val="052B48"/>
                </a:solidFill>
              </a:rPr>
              <a:t>, </a:t>
            </a:r>
            <a:r>
              <a:rPr lang="en-US" sz="2300" dirty="0" err="1" smtClean="0">
                <a:solidFill>
                  <a:srgbClr val="052B48"/>
                </a:solidFill>
              </a:rPr>
              <a:t>MatNWB</a:t>
            </a:r>
            <a:r>
              <a:rPr lang="en-US" sz="2300" dirty="0">
                <a:solidFill>
                  <a:srgbClr val="052B48"/>
                </a:solidFill>
              </a:rPr>
              <a:t> </a:t>
            </a:r>
            <a:r>
              <a:rPr lang="en-US" sz="2300" dirty="0" smtClean="0">
                <a:solidFill>
                  <a:srgbClr val="052B48"/>
                </a:solidFill>
              </a:rPr>
              <a:t>release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86" name="Freeform 85"/>
          <p:cNvSpPr/>
          <p:nvPr/>
        </p:nvSpPr>
        <p:spPr>
          <a:xfrm>
            <a:off x="15521272" y="303760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2019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87" name="Freeform 86"/>
          <p:cNvSpPr/>
          <p:nvPr/>
        </p:nvSpPr>
        <p:spPr>
          <a:xfrm>
            <a:off x="17171722" y="1047882"/>
            <a:ext cx="2216607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6</a:t>
            </a:r>
            <a:r>
              <a:rPr lang="en-US" sz="2300" baseline="30000" dirty="0" smtClean="0">
                <a:solidFill>
                  <a:srgbClr val="052B48"/>
                </a:solidFill>
              </a:rPr>
              <a:t>th</a:t>
            </a:r>
            <a:r>
              <a:rPr lang="en-US" sz="2300" dirty="0" smtClean="0">
                <a:solidFill>
                  <a:srgbClr val="052B48"/>
                </a:solidFill>
              </a:rPr>
              <a:t> NWB User Days and Developer </a:t>
            </a:r>
            <a:r>
              <a:rPr lang="en-US" sz="2300" dirty="0" err="1" smtClean="0">
                <a:solidFill>
                  <a:srgbClr val="052B48"/>
                </a:solidFill>
              </a:rPr>
              <a:t>Hackathon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88" name="Freeform 87"/>
          <p:cNvSpPr/>
          <p:nvPr/>
        </p:nvSpPr>
        <p:spPr>
          <a:xfrm>
            <a:off x="17641947" y="5012548"/>
            <a:ext cx="5548655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rgbClr val="C55B1E"/>
                </a:solidFill>
              </a:rPr>
              <a:t>NWB:N 2.x</a:t>
            </a:r>
            <a:endParaRPr lang="en-US" sz="2200" b="1" kern="1200" dirty="0">
              <a:solidFill>
                <a:srgbClr val="C55B1E"/>
              </a:solidFill>
            </a:endParaRPr>
          </a:p>
        </p:txBody>
      </p:sp>
      <p:cxnSp>
        <p:nvCxnSpPr>
          <p:cNvPr id="89" name="Straight Connector 88"/>
          <p:cNvCxnSpPr/>
          <p:nvPr/>
        </p:nvCxnSpPr>
        <p:spPr>
          <a:xfrm flipV="1">
            <a:off x="19438946" y="3191798"/>
            <a:ext cx="0" cy="364353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>
            <a:spLocks noChangeAspect="1"/>
          </p:cNvSpPr>
          <p:nvPr/>
        </p:nvSpPr>
        <p:spPr>
          <a:xfrm>
            <a:off x="19219131" y="2729051"/>
            <a:ext cx="445578" cy="44557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91" name="Freeform 90"/>
          <p:cNvSpPr/>
          <p:nvPr/>
        </p:nvSpPr>
        <p:spPr>
          <a:xfrm>
            <a:off x="19157264" y="2756878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chemeClr val="accent6">
                    <a:lumMod val="50000"/>
                  </a:schemeClr>
                </a:solidFill>
              </a:rPr>
              <a:t>Oct</a:t>
            </a:r>
            <a:endParaRPr lang="en-US" sz="1600" b="1" kern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92" name="Freeform 91"/>
          <p:cNvSpPr/>
          <p:nvPr/>
        </p:nvSpPr>
        <p:spPr>
          <a:xfrm>
            <a:off x="18243670" y="3567072"/>
            <a:ext cx="2367408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err="1" smtClean="0">
                <a:solidFill>
                  <a:srgbClr val="C55B1E"/>
                </a:solidFill>
              </a:rPr>
              <a:t>Neurodata</a:t>
            </a:r>
            <a:r>
              <a:rPr lang="en-US" sz="2300" dirty="0" smtClean="0">
                <a:solidFill>
                  <a:srgbClr val="C55B1E"/>
                </a:solidFill>
              </a:rPr>
              <a:t> Extension Catalog released,        NWB @ </a:t>
            </a:r>
            <a:r>
              <a:rPr lang="en-US" sz="2300" dirty="0" err="1" smtClean="0">
                <a:solidFill>
                  <a:srgbClr val="C55B1E"/>
                </a:solidFill>
              </a:rPr>
              <a:t>SfN</a:t>
            </a:r>
            <a:endParaRPr lang="en-US" sz="2300" kern="1200" dirty="0">
              <a:solidFill>
                <a:srgbClr val="C55B1E"/>
              </a:solidFill>
            </a:endParaRPr>
          </a:p>
        </p:txBody>
      </p:sp>
      <p:pic>
        <p:nvPicPr>
          <p:cNvPr id="2" name="Picture 1" descr="logo_brain_text_transp_hor_350x64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06298" y="433973"/>
            <a:ext cx="4444979" cy="812796"/>
          </a:xfrm>
          <a:prstGeom prst="rect">
            <a:avLst/>
          </a:prstGeom>
        </p:spPr>
      </p:pic>
      <p:cxnSp>
        <p:nvCxnSpPr>
          <p:cNvPr id="93" name="Straight Connector 92"/>
          <p:cNvCxnSpPr/>
          <p:nvPr/>
        </p:nvCxnSpPr>
        <p:spPr>
          <a:xfrm flipV="1">
            <a:off x="20582223" y="2339701"/>
            <a:ext cx="0" cy="364353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>
            <a:spLocks noChangeAspect="1"/>
          </p:cNvSpPr>
          <p:nvPr/>
        </p:nvSpPr>
        <p:spPr>
          <a:xfrm>
            <a:off x="20362408" y="2704774"/>
            <a:ext cx="445578" cy="44557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95" name="Freeform 94"/>
          <p:cNvSpPr/>
          <p:nvPr/>
        </p:nvSpPr>
        <p:spPr>
          <a:xfrm>
            <a:off x="20300541" y="273260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accent6">
                    <a:lumMod val="50000"/>
                  </a:schemeClr>
                </a:solidFill>
              </a:rPr>
              <a:t>Dec</a:t>
            </a:r>
            <a:endParaRPr lang="en-US" sz="1600" b="1" kern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96" name="Freeform 95"/>
          <p:cNvSpPr/>
          <p:nvPr/>
        </p:nvSpPr>
        <p:spPr>
          <a:xfrm>
            <a:off x="19737558" y="993137"/>
            <a:ext cx="1658427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C55B1E"/>
                </a:solidFill>
              </a:rPr>
              <a:t>NWB receives R&amp;D 100 Award</a:t>
            </a:r>
            <a:endParaRPr lang="en-US" sz="2300" kern="1200" dirty="0">
              <a:solidFill>
                <a:srgbClr val="C55B1E"/>
              </a:solidFill>
            </a:endParaRPr>
          </a:p>
        </p:txBody>
      </p:sp>
      <p:sp>
        <p:nvSpPr>
          <p:cNvPr id="97" name="Notched Right Arrow 96"/>
          <p:cNvSpPr/>
          <p:nvPr/>
        </p:nvSpPr>
        <p:spPr>
          <a:xfrm>
            <a:off x="20770451" y="2531651"/>
            <a:ext cx="2633835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rgbClr val="C55B1E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98" name="Freeform 97"/>
          <p:cNvSpPr/>
          <p:nvPr/>
        </p:nvSpPr>
        <p:spPr>
          <a:xfrm>
            <a:off x="20715631" y="302626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chemeClr val="accent6">
                    <a:lumMod val="40000"/>
                    <a:lumOff val="60000"/>
                  </a:schemeClr>
                </a:solidFill>
              </a:rPr>
              <a:t>2020</a:t>
            </a:r>
            <a:endParaRPr lang="en-US" sz="2200" b="1" kern="12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9" name="Freeform 98"/>
          <p:cNvSpPr/>
          <p:nvPr/>
        </p:nvSpPr>
        <p:spPr>
          <a:xfrm>
            <a:off x="21024430" y="3556151"/>
            <a:ext cx="1658427" cy="100692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C55B1E"/>
                </a:solidFill>
              </a:rPr>
              <a:t>7</a:t>
            </a:r>
            <a:r>
              <a:rPr lang="en-US" sz="2300" baseline="30000" dirty="0" smtClean="0">
                <a:solidFill>
                  <a:srgbClr val="C55B1E"/>
                </a:solidFill>
              </a:rPr>
              <a:t>th</a:t>
            </a:r>
            <a:r>
              <a:rPr lang="en-US" sz="2300" dirty="0" smtClean="0">
                <a:solidFill>
                  <a:srgbClr val="C55B1E"/>
                </a:solidFill>
              </a:rPr>
              <a:t> NWB Developer </a:t>
            </a:r>
            <a:r>
              <a:rPr lang="en-US" sz="2300" dirty="0" err="1" smtClean="0">
                <a:solidFill>
                  <a:srgbClr val="C55B1E"/>
                </a:solidFill>
              </a:rPr>
              <a:t>Hackathon</a:t>
            </a:r>
            <a:endParaRPr lang="en-US" sz="2300" kern="1200" dirty="0">
              <a:solidFill>
                <a:srgbClr val="C55B1E"/>
              </a:solidFill>
            </a:endParaRPr>
          </a:p>
        </p:txBody>
      </p:sp>
      <p:cxnSp>
        <p:nvCxnSpPr>
          <p:cNvPr id="100" name="Straight Connector 99"/>
          <p:cNvCxnSpPr/>
          <p:nvPr/>
        </p:nvCxnSpPr>
        <p:spPr>
          <a:xfrm flipV="1">
            <a:off x="21961256" y="3185906"/>
            <a:ext cx="0" cy="364353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>
            <a:spLocks noChangeAspect="1"/>
          </p:cNvSpPr>
          <p:nvPr/>
        </p:nvSpPr>
        <p:spPr>
          <a:xfrm>
            <a:off x="21730102" y="2723159"/>
            <a:ext cx="445578" cy="44557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2" name="Freeform 101"/>
          <p:cNvSpPr/>
          <p:nvPr/>
        </p:nvSpPr>
        <p:spPr>
          <a:xfrm>
            <a:off x="21668235" y="275098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accent6">
                    <a:lumMod val="50000"/>
                  </a:schemeClr>
                </a:solidFill>
              </a:rPr>
              <a:t>Feb</a:t>
            </a:r>
            <a:endParaRPr lang="en-US" sz="1600" b="1" kern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03" name="Straight Connector 102"/>
          <p:cNvCxnSpPr/>
          <p:nvPr/>
        </p:nvCxnSpPr>
        <p:spPr>
          <a:xfrm flipV="1">
            <a:off x="22739375" y="2368368"/>
            <a:ext cx="0" cy="364353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>
            <a:spLocks noChangeAspect="1"/>
          </p:cNvSpPr>
          <p:nvPr/>
        </p:nvSpPr>
        <p:spPr>
          <a:xfrm>
            <a:off x="22519560" y="2722101"/>
            <a:ext cx="445578" cy="44557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5" name="Freeform 104"/>
          <p:cNvSpPr/>
          <p:nvPr/>
        </p:nvSpPr>
        <p:spPr>
          <a:xfrm>
            <a:off x="22457693" y="2749928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accent6">
                    <a:lumMod val="50000"/>
                  </a:schemeClr>
                </a:solidFill>
              </a:rPr>
              <a:t>May</a:t>
            </a:r>
            <a:endParaRPr lang="en-US" sz="1600" b="1" kern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06" name="Freeform 105"/>
          <p:cNvSpPr/>
          <p:nvPr/>
        </p:nvSpPr>
        <p:spPr>
          <a:xfrm>
            <a:off x="21894710" y="1021804"/>
            <a:ext cx="1658427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C55B1E"/>
                </a:solidFill>
              </a:rPr>
              <a:t>8</a:t>
            </a:r>
            <a:r>
              <a:rPr lang="en-US" sz="2300" baseline="30000" dirty="0" smtClean="0">
                <a:solidFill>
                  <a:srgbClr val="C55B1E"/>
                </a:solidFill>
              </a:rPr>
              <a:t>th</a:t>
            </a:r>
            <a:r>
              <a:rPr lang="en-US" sz="2300" dirty="0" smtClean="0">
                <a:solidFill>
                  <a:srgbClr val="C55B1E"/>
                </a:solidFill>
              </a:rPr>
              <a:t> NWB User and Developer Days</a:t>
            </a:r>
            <a:endParaRPr lang="en-US" sz="2300" kern="1200" dirty="0">
              <a:solidFill>
                <a:srgbClr val="C55B1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0127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Notched Right Arrow 169"/>
          <p:cNvSpPr/>
          <p:nvPr/>
        </p:nvSpPr>
        <p:spPr>
          <a:xfrm>
            <a:off x="188880" y="2578690"/>
            <a:ext cx="205542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8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1" name="Oval 170"/>
          <p:cNvSpPr>
            <a:spLocks noChangeAspect="1"/>
          </p:cNvSpPr>
          <p:nvPr/>
        </p:nvSpPr>
        <p:spPr>
          <a:xfrm>
            <a:off x="1081559" y="2797090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72" name="Straight Connector 171"/>
          <p:cNvCxnSpPr/>
          <p:nvPr/>
        </p:nvCxnSpPr>
        <p:spPr>
          <a:xfrm flipV="1">
            <a:off x="1312425" y="324667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Freeform 172"/>
          <p:cNvSpPr/>
          <p:nvPr/>
        </p:nvSpPr>
        <p:spPr>
          <a:xfrm>
            <a:off x="150644" y="3076637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2014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4" name="Freeform 173"/>
          <p:cNvSpPr/>
          <p:nvPr/>
        </p:nvSpPr>
        <p:spPr>
          <a:xfrm>
            <a:off x="1023514" y="282210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75" name="Freeform 174"/>
          <p:cNvSpPr/>
          <p:nvPr/>
        </p:nvSpPr>
        <p:spPr>
          <a:xfrm>
            <a:off x="481797" y="3577892"/>
            <a:ext cx="1633156" cy="116274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1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st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76" name="Notched Right Arrow 175"/>
          <p:cNvSpPr/>
          <p:nvPr/>
        </p:nvSpPr>
        <p:spPr>
          <a:xfrm>
            <a:off x="1818898" y="2578690"/>
            <a:ext cx="4116890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7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7" name="Freeform 176"/>
          <p:cNvSpPr/>
          <p:nvPr/>
        </p:nvSpPr>
        <p:spPr>
          <a:xfrm>
            <a:off x="1752197" y="3076637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2015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8" name="Freeform 177"/>
          <p:cNvSpPr/>
          <p:nvPr/>
        </p:nvSpPr>
        <p:spPr>
          <a:xfrm>
            <a:off x="1995639" y="1337101"/>
            <a:ext cx="1633156" cy="108178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2</a:t>
            </a:r>
            <a:r>
              <a:rPr lang="en-US" sz="23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300" kern="1200" dirty="0" smtClean="0">
                <a:solidFill>
                  <a:srgbClr val="052B48"/>
                </a:solidFill>
              </a:rPr>
              <a:t> NWB Hackathon at HHMI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79" name="Oval 178"/>
          <p:cNvSpPr>
            <a:spLocks noChangeAspect="1"/>
          </p:cNvSpPr>
          <p:nvPr/>
        </p:nvSpPr>
        <p:spPr>
          <a:xfrm>
            <a:off x="2585278" y="2797090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0" name="Straight Connector 179"/>
          <p:cNvCxnSpPr/>
          <p:nvPr/>
        </p:nvCxnSpPr>
        <p:spPr>
          <a:xfrm flipV="1">
            <a:off x="2808067" y="2412208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Freeform 180"/>
          <p:cNvSpPr/>
          <p:nvPr/>
        </p:nvSpPr>
        <p:spPr>
          <a:xfrm>
            <a:off x="2527233" y="282210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May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2" name="Oval 181"/>
          <p:cNvSpPr>
            <a:spLocks noChangeAspect="1"/>
          </p:cNvSpPr>
          <p:nvPr/>
        </p:nvSpPr>
        <p:spPr>
          <a:xfrm>
            <a:off x="3697753" y="2797090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3" name="Straight Connector 182"/>
          <p:cNvCxnSpPr/>
          <p:nvPr/>
        </p:nvCxnSpPr>
        <p:spPr>
          <a:xfrm flipV="1">
            <a:off x="3933445" y="3249863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 183"/>
          <p:cNvSpPr/>
          <p:nvPr/>
        </p:nvSpPr>
        <p:spPr>
          <a:xfrm>
            <a:off x="3639708" y="282210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Aug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5" name="Freeform 184"/>
          <p:cNvSpPr/>
          <p:nvPr/>
        </p:nvSpPr>
        <p:spPr>
          <a:xfrm>
            <a:off x="3118441" y="3718916"/>
            <a:ext cx="1633156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NWB:N 1.0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86" name="Notched Right Arrow 185"/>
          <p:cNvSpPr/>
          <p:nvPr/>
        </p:nvSpPr>
        <p:spPr>
          <a:xfrm>
            <a:off x="5511003" y="2576623"/>
            <a:ext cx="225528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6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87" name="Oval 186"/>
          <p:cNvSpPr>
            <a:spLocks noChangeAspect="1"/>
          </p:cNvSpPr>
          <p:nvPr/>
        </p:nvSpPr>
        <p:spPr>
          <a:xfrm>
            <a:off x="6424253" y="2795023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88" name="Freeform 187"/>
          <p:cNvSpPr/>
          <p:nvPr/>
        </p:nvSpPr>
        <p:spPr>
          <a:xfrm>
            <a:off x="5444303" y="307457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2016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89" name="Freeform 188"/>
          <p:cNvSpPr/>
          <p:nvPr/>
        </p:nvSpPr>
        <p:spPr>
          <a:xfrm>
            <a:off x="6366208" y="282003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cxnSp>
        <p:nvCxnSpPr>
          <p:cNvPr id="190" name="Straight Connector 189"/>
          <p:cNvCxnSpPr/>
          <p:nvPr/>
        </p:nvCxnSpPr>
        <p:spPr>
          <a:xfrm flipV="1">
            <a:off x="6651789" y="3254112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 190"/>
          <p:cNvSpPr/>
          <p:nvPr/>
        </p:nvSpPr>
        <p:spPr>
          <a:xfrm>
            <a:off x="5585037" y="3718916"/>
            <a:ext cx="2181253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1.0.5g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2" name="Notched Right Arrow 191"/>
          <p:cNvSpPr/>
          <p:nvPr/>
        </p:nvSpPr>
        <p:spPr>
          <a:xfrm>
            <a:off x="7294694" y="2576623"/>
            <a:ext cx="6078882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93" name="Oval 192"/>
          <p:cNvSpPr>
            <a:spLocks noChangeAspect="1"/>
          </p:cNvSpPr>
          <p:nvPr/>
        </p:nvSpPr>
        <p:spPr>
          <a:xfrm>
            <a:off x="8335173" y="2795023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94" name="Straight Connector 193"/>
          <p:cNvCxnSpPr>
            <a:stCxn id="193" idx="0"/>
          </p:cNvCxnSpPr>
          <p:nvPr/>
        </p:nvCxnSpPr>
        <p:spPr>
          <a:xfrm flipV="1">
            <a:off x="8557962" y="2444182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Freeform 194"/>
          <p:cNvSpPr/>
          <p:nvPr/>
        </p:nvSpPr>
        <p:spPr>
          <a:xfrm>
            <a:off x="7314690" y="3074570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2017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96" name="Freeform 195"/>
          <p:cNvSpPr/>
          <p:nvPr/>
        </p:nvSpPr>
        <p:spPr>
          <a:xfrm>
            <a:off x="8273306" y="2822850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197" name="Freeform 196"/>
          <p:cNvSpPr/>
          <p:nvPr/>
        </p:nvSpPr>
        <p:spPr>
          <a:xfrm>
            <a:off x="7241332" y="1260044"/>
            <a:ext cx="2635110" cy="1237734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KAVLI funds NWB4HPC Project led by LBNL 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98" name="Freeform 197"/>
          <p:cNvSpPr/>
          <p:nvPr/>
        </p:nvSpPr>
        <p:spPr>
          <a:xfrm>
            <a:off x="8942982" y="3544570"/>
            <a:ext cx="1633156" cy="115568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>
                <a:solidFill>
                  <a:srgbClr val="052B48"/>
                </a:solidFill>
              </a:rPr>
              <a:t>3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9" name="Oval 198"/>
          <p:cNvSpPr>
            <a:spLocks noChangeAspect="1"/>
          </p:cNvSpPr>
          <p:nvPr/>
        </p:nvSpPr>
        <p:spPr>
          <a:xfrm>
            <a:off x="9507450" y="2795023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0" name="Straight Connector 199"/>
          <p:cNvCxnSpPr/>
          <p:nvPr/>
        </p:nvCxnSpPr>
        <p:spPr>
          <a:xfrm flipV="1">
            <a:off x="9730239" y="324928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Freeform 200"/>
          <p:cNvSpPr/>
          <p:nvPr/>
        </p:nvSpPr>
        <p:spPr>
          <a:xfrm>
            <a:off x="9445583" y="2822850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Jul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2" name="Oval 201"/>
          <p:cNvSpPr>
            <a:spLocks noChangeAspect="1"/>
          </p:cNvSpPr>
          <p:nvPr/>
        </p:nvSpPr>
        <p:spPr>
          <a:xfrm>
            <a:off x="10703230" y="2792212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3" name="Straight Connector 202"/>
          <p:cNvCxnSpPr>
            <a:stCxn id="202" idx="0"/>
          </p:cNvCxnSpPr>
          <p:nvPr/>
        </p:nvCxnSpPr>
        <p:spPr>
          <a:xfrm flipV="1">
            <a:off x="10926019" y="244137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Freeform 203"/>
          <p:cNvSpPr/>
          <p:nvPr/>
        </p:nvSpPr>
        <p:spPr>
          <a:xfrm>
            <a:off x="10641363" y="282003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Aug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5" name="Freeform 204"/>
          <p:cNvSpPr/>
          <p:nvPr/>
        </p:nvSpPr>
        <p:spPr>
          <a:xfrm>
            <a:off x="9806806" y="1694314"/>
            <a:ext cx="2232399" cy="749867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NWB Executive Board Founded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06" name="Freeform 205"/>
          <p:cNvSpPr/>
          <p:nvPr/>
        </p:nvSpPr>
        <p:spPr>
          <a:xfrm>
            <a:off x="11118096" y="3603055"/>
            <a:ext cx="2151831" cy="130326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2.0beta, PyNWB, and MatNWB released (</a:t>
            </a:r>
            <a:r>
              <a:rPr lang="en-US" sz="2200" dirty="0" err="1" smtClean="0">
                <a:solidFill>
                  <a:srgbClr val="052B48"/>
                </a:solidFill>
              </a:rPr>
              <a:t>SfN</a:t>
            </a:r>
            <a:r>
              <a:rPr lang="en-US" sz="2200" dirty="0" smtClean="0">
                <a:solidFill>
                  <a:srgbClr val="052B48"/>
                </a:solidFill>
              </a:rPr>
              <a:t>)  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207" name="Oval 206"/>
          <p:cNvSpPr>
            <a:spLocks noChangeAspect="1"/>
          </p:cNvSpPr>
          <p:nvPr/>
        </p:nvSpPr>
        <p:spPr>
          <a:xfrm>
            <a:off x="11958209" y="2785300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8" name="Straight Connector 207"/>
          <p:cNvCxnSpPr/>
          <p:nvPr/>
        </p:nvCxnSpPr>
        <p:spPr>
          <a:xfrm flipV="1">
            <a:off x="12180998" y="3244813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 208"/>
          <p:cNvSpPr/>
          <p:nvPr/>
        </p:nvSpPr>
        <p:spPr>
          <a:xfrm>
            <a:off x="11896342" y="281312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0" name="Notched Right Arrow 209"/>
          <p:cNvSpPr/>
          <p:nvPr/>
        </p:nvSpPr>
        <p:spPr>
          <a:xfrm>
            <a:off x="12947613" y="2576623"/>
            <a:ext cx="435604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/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11" name="Freeform 210"/>
          <p:cNvSpPr/>
          <p:nvPr/>
        </p:nvSpPr>
        <p:spPr>
          <a:xfrm>
            <a:off x="4200299" y="1754473"/>
            <a:ext cx="1633156" cy="72965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Neuron Paper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2" name="Oval 211"/>
          <p:cNvSpPr>
            <a:spLocks noChangeAspect="1"/>
          </p:cNvSpPr>
          <p:nvPr/>
        </p:nvSpPr>
        <p:spPr>
          <a:xfrm>
            <a:off x="4789250" y="2789927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3" name="Straight Connector 212"/>
          <p:cNvCxnSpPr/>
          <p:nvPr/>
        </p:nvCxnSpPr>
        <p:spPr>
          <a:xfrm flipV="1">
            <a:off x="5012039" y="2414275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Freeform 213"/>
          <p:cNvSpPr/>
          <p:nvPr/>
        </p:nvSpPr>
        <p:spPr>
          <a:xfrm>
            <a:off x="4731205" y="281494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215" name="Freeform 214"/>
          <p:cNvSpPr/>
          <p:nvPr/>
        </p:nvSpPr>
        <p:spPr>
          <a:xfrm>
            <a:off x="13559788" y="1047997"/>
            <a:ext cx="2151637" cy="137089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4</a:t>
            </a:r>
            <a:r>
              <a:rPr lang="en-US" sz="2300" baseline="30000" dirty="0" smtClean="0">
                <a:solidFill>
                  <a:srgbClr val="052B48"/>
                </a:solidFill>
              </a:rPr>
              <a:t>th</a:t>
            </a:r>
            <a:r>
              <a:rPr lang="en-US" sz="2300" dirty="0" smtClean="0">
                <a:solidFill>
                  <a:srgbClr val="052B48"/>
                </a:solidFill>
              </a:rPr>
              <a:t> NWB:N Developer Hackathon at AIBS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6" name="Oval 215"/>
          <p:cNvSpPr>
            <a:spLocks noChangeAspect="1"/>
          </p:cNvSpPr>
          <p:nvPr/>
        </p:nvSpPr>
        <p:spPr>
          <a:xfrm>
            <a:off x="14407350" y="278711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7" name="Straight Connector 216"/>
          <p:cNvCxnSpPr/>
          <p:nvPr/>
        </p:nvCxnSpPr>
        <p:spPr>
          <a:xfrm flipV="1">
            <a:off x="14630139" y="2429335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>
            <a:off x="14345483" y="281494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Apr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9" name="Freeform 218"/>
          <p:cNvSpPr/>
          <p:nvPr/>
        </p:nvSpPr>
        <p:spPr>
          <a:xfrm>
            <a:off x="13795391" y="3602957"/>
            <a:ext cx="1674385" cy="13162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5</a:t>
            </a:r>
            <a:r>
              <a:rPr lang="en-US" sz="2200" baseline="30000" dirty="0" smtClean="0">
                <a:solidFill>
                  <a:srgbClr val="052B48"/>
                </a:solidFill>
              </a:rPr>
              <a:t>th</a:t>
            </a:r>
            <a:r>
              <a:rPr lang="en-US" sz="2200" dirty="0" smtClean="0">
                <a:solidFill>
                  <a:srgbClr val="052B48"/>
                </a:solidFill>
              </a:rPr>
              <a:t> NWB:N User Hackathon at LBNL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cxnSp>
        <p:nvCxnSpPr>
          <p:cNvPr id="220" name="Straight Connector 219"/>
          <p:cNvCxnSpPr/>
          <p:nvPr/>
        </p:nvCxnSpPr>
        <p:spPr>
          <a:xfrm flipV="1">
            <a:off x="14630139" y="3249017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Freeform 220"/>
          <p:cNvSpPr/>
          <p:nvPr/>
        </p:nvSpPr>
        <p:spPr>
          <a:xfrm>
            <a:off x="12958037" y="3082572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2018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cxnSp>
        <p:nvCxnSpPr>
          <p:cNvPr id="222" name="Straight Connector 221"/>
          <p:cNvCxnSpPr/>
          <p:nvPr/>
        </p:nvCxnSpPr>
        <p:spPr>
          <a:xfrm flipV="1">
            <a:off x="16685071" y="2414275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Freeform 222"/>
          <p:cNvSpPr/>
          <p:nvPr/>
        </p:nvSpPr>
        <p:spPr>
          <a:xfrm>
            <a:off x="15989931" y="1098268"/>
            <a:ext cx="1398235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Welcome to SfN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24" name="Oval 223"/>
          <p:cNvSpPr>
            <a:spLocks noChangeAspect="1"/>
          </p:cNvSpPr>
          <p:nvPr/>
        </p:nvSpPr>
        <p:spPr>
          <a:xfrm>
            <a:off x="16462282" y="2785300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5" name="Freeform 224"/>
          <p:cNvSpPr/>
          <p:nvPr/>
        </p:nvSpPr>
        <p:spPr>
          <a:xfrm>
            <a:off x="16400415" y="281312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35" name="Left Brace 234"/>
          <p:cNvSpPr/>
          <p:nvPr/>
        </p:nvSpPr>
        <p:spPr>
          <a:xfrm rot="16200000">
            <a:off x="3580495" y="1349022"/>
            <a:ext cx="351662" cy="7134888"/>
          </a:xfrm>
          <a:prstGeom prst="leftBrace">
            <a:avLst/>
          </a:prstGeom>
          <a:ln w="28575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6" name="Left Brace 235"/>
          <p:cNvSpPr/>
          <p:nvPr/>
        </p:nvSpPr>
        <p:spPr>
          <a:xfrm rot="16200000">
            <a:off x="14020989" y="-1956588"/>
            <a:ext cx="351659" cy="13746098"/>
          </a:xfrm>
          <a:prstGeom prst="leftBrace">
            <a:avLst/>
          </a:prstGeom>
          <a:ln w="28575" cmpd="sng"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7" name="Freeform 236"/>
          <p:cNvSpPr/>
          <p:nvPr/>
        </p:nvSpPr>
        <p:spPr>
          <a:xfrm>
            <a:off x="2935033" y="5057520"/>
            <a:ext cx="163315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NWB:N 1.0</a:t>
            </a:r>
            <a:endParaRPr lang="en-US" sz="2200" b="1" kern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8" name="Freeform 237"/>
          <p:cNvSpPr/>
          <p:nvPr/>
        </p:nvSpPr>
        <p:spPr>
          <a:xfrm>
            <a:off x="12147933" y="5057520"/>
            <a:ext cx="4538180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2">
                    <a:lumMod val="75000"/>
                  </a:schemeClr>
                </a:solidFill>
              </a:rPr>
              <a:t>NWB:N 2.0</a:t>
            </a:r>
            <a:endParaRPr lang="en-US" sz="2200" b="1" kern="12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240" name="Straight Connector 239"/>
          <p:cNvCxnSpPr/>
          <p:nvPr/>
        </p:nvCxnSpPr>
        <p:spPr>
          <a:xfrm flipV="1">
            <a:off x="16150646" y="3249863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240"/>
          <p:cNvSpPr>
            <a:spLocks noChangeAspect="1"/>
          </p:cNvSpPr>
          <p:nvPr/>
        </p:nvSpPr>
        <p:spPr>
          <a:xfrm>
            <a:off x="15931214" y="278711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42" name="Freeform 241"/>
          <p:cNvSpPr/>
          <p:nvPr/>
        </p:nvSpPr>
        <p:spPr>
          <a:xfrm>
            <a:off x="15869347" y="281494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Oct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43" name="Freeform 242"/>
          <p:cNvSpPr/>
          <p:nvPr/>
        </p:nvSpPr>
        <p:spPr>
          <a:xfrm>
            <a:off x="15525856" y="3356808"/>
            <a:ext cx="1256679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NIH funds NWB:N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44" name="Left Brace 243"/>
          <p:cNvSpPr/>
          <p:nvPr/>
        </p:nvSpPr>
        <p:spPr>
          <a:xfrm rot="16200000">
            <a:off x="19936062" y="4275375"/>
            <a:ext cx="351660" cy="1915949"/>
          </a:xfrm>
          <a:prstGeom prst="leftBrace">
            <a:avLst/>
          </a:prstGeom>
          <a:ln w="28575" cmpd="sng">
            <a:solidFill>
              <a:srgbClr val="8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8" name="Notched Right Arrow 77"/>
          <p:cNvSpPr/>
          <p:nvPr/>
        </p:nvSpPr>
        <p:spPr>
          <a:xfrm>
            <a:off x="16885965" y="2576623"/>
            <a:ext cx="4183902" cy="885739"/>
          </a:xfrm>
          <a:prstGeom prst="notchedRightArrow">
            <a:avLst>
              <a:gd name="adj1" fmla="val 100000"/>
              <a:gd name="adj2" fmla="val 47999"/>
            </a:avLst>
          </a:prstGeom>
          <a:gradFill flip="none" rotWithShape="1">
            <a:gsLst>
              <a:gs pos="61000">
                <a:schemeClr val="accent1">
                  <a:lumMod val="75000"/>
                </a:schemeClr>
              </a:gs>
              <a:gs pos="88000">
                <a:schemeClr val="accent2">
                  <a:lumMod val="75000"/>
                </a:schemeClr>
              </a:gs>
            </a:gsLst>
            <a:lin ang="0" scaled="1"/>
            <a:tileRect/>
          </a:gra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cxnSp>
        <p:nvCxnSpPr>
          <p:cNvPr id="79" name="Straight Connector 78"/>
          <p:cNvCxnSpPr/>
          <p:nvPr/>
        </p:nvCxnSpPr>
        <p:spPr>
          <a:xfrm flipV="1">
            <a:off x="19586370" y="2407603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>
            <a:spLocks noChangeAspect="1"/>
          </p:cNvSpPr>
          <p:nvPr/>
        </p:nvSpPr>
        <p:spPr>
          <a:xfrm>
            <a:off x="19363581" y="2778628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1" name="Freeform 80"/>
          <p:cNvSpPr/>
          <p:nvPr/>
        </p:nvSpPr>
        <p:spPr>
          <a:xfrm>
            <a:off x="19301714" y="280645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May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18121357" y="324319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>
            <a:spLocks noChangeAspect="1"/>
          </p:cNvSpPr>
          <p:nvPr/>
        </p:nvSpPr>
        <p:spPr>
          <a:xfrm>
            <a:off x="17912881" y="2780444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4" name="Freeform 83"/>
          <p:cNvSpPr/>
          <p:nvPr/>
        </p:nvSpPr>
        <p:spPr>
          <a:xfrm>
            <a:off x="17851014" y="2808271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85" name="Freeform 84"/>
          <p:cNvSpPr/>
          <p:nvPr/>
        </p:nvSpPr>
        <p:spPr>
          <a:xfrm>
            <a:off x="17419125" y="3618465"/>
            <a:ext cx="1624490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NWB:N 2.0, </a:t>
            </a:r>
            <a:r>
              <a:rPr lang="en-US" sz="2300" dirty="0" err="1" smtClean="0">
                <a:solidFill>
                  <a:srgbClr val="052B48"/>
                </a:solidFill>
              </a:rPr>
              <a:t>PyNWB</a:t>
            </a:r>
            <a:r>
              <a:rPr lang="en-US" sz="2300" dirty="0" smtClean="0">
                <a:solidFill>
                  <a:srgbClr val="052B48"/>
                </a:solidFill>
              </a:rPr>
              <a:t>, </a:t>
            </a:r>
            <a:r>
              <a:rPr lang="en-US" sz="2300" dirty="0" err="1" smtClean="0">
                <a:solidFill>
                  <a:srgbClr val="052B48"/>
                </a:solidFill>
              </a:rPr>
              <a:t>MatNWB</a:t>
            </a:r>
            <a:r>
              <a:rPr lang="en-US" sz="2300" dirty="0">
                <a:solidFill>
                  <a:srgbClr val="052B48"/>
                </a:solidFill>
              </a:rPr>
              <a:t> </a:t>
            </a:r>
            <a:r>
              <a:rPr lang="en-US" sz="2300" dirty="0" smtClean="0">
                <a:solidFill>
                  <a:srgbClr val="052B48"/>
                </a:solidFill>
              </a:rPr>
              <a:t>release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86" name="Freeform 85"/>
          <p:cNvSpPr/>
          <p:nvPr/>
        </p:nvSpPr>
        <p:spPr>
          <a:xfrm>
            <a:off x="16839385" y="3082572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2019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87" name="Freeform 86"/>
          <p:cNvSpPr/>
          <p:nvPr/>
        </p:nvSpPr>
        <p:spPr>
          <a:xfrm>
            <a:off x="18489835" y="1092854"/>
            <a:ext cx="2216607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NWB:NM User Days and Developer </a:t>
            </a:r>
            <a:r>
              <a:rPr lang="en-US" sz="2300" dirty="0" err="1" smtClean="0">
                <a:solidFill>
                  <a:srgbClr val="052B48"/>
                </a:solidFill>
              </a:rPr>
              <a:t>Hackathon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88" name="Freeform 87"/>
          <p:cNvSpPr/>
          <p:nvPr/>
        </p:nvSpPr>
        <p:spPr>
          <a:xfrm>
            <a:off x="19153916" y="5299690"/>
            <a:ext cx="1915951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accent2">
                    <a:lumMod val="75000"/>
                  </a:schemeClr>
                </a:solidFill>
              </a:rPr>
              <a:t>NWB:N 2.x</a:t>
            </a:r>
            <a:endParaRPr lang="en-US" sz="2200" b="1" kern="12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7152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Notched Right Arrow 169"/>
          <p:cNvSpPr/>
          <p:nvPr/>
        </p:nvSpPr>
        <p:spPr>
          <a:xfrm>
            <a:off x="1015565" y="3179296"/>
            <a:ext cx="205542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8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1" name="Oval 170"/>
          <p:cNvSpPr>
            <a:spLocks noChangeAspect="1"/>
          </p:cNvSpPr>
          <p:nvPr/>
        </p:nvSpPr>
        <p:spPr>
          <a:xfrm>
            <a:off x="1908244" y="3397696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72" name="Straight Connector 171"/>
          <p:cNvCxnSpPr/>
          <p:nvPr/>
        </p:nvCxnSpPr>
        <p:spPr>
          <a:xfrm flipV="1">
            <a:off x="2139110" y="3847277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Freeform 172"/>
          <p:cNvSpPr/>
          <p:nvPr/>
        </p:nvSpPr>
        <p:spPr>
          <a:xfrm>
            <a:off x="977329" y="3677243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2014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4" name="Freeform 173"/>
          <p:cNvSpPr/>
          <p:nvPr/>
        </p:nvSpPr>
        <p:spPr>
          <a:xfrm>
            <a:off x="1850199" y="3422712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75" name="Freeform 174"/>
          <p:cNvSpPr/>
          <p:nvPr/>
        </p:nvSpPr>
        <p:spPr>
          <a:xfrm>
            <a:off x="1308482" y="4178498"/>
            <a:ext cx="1633156" cy="116274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1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st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76" name="Notched Right Arrow 175"/>
          <p:cNvSpPr/>
          <p:nvPr/>
        </p:nvSpPr>
        <p:spPr>
          <a:xfrm>
            <a:off x="2645583" y="3179296"/>
            <a:ext cx="4116890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7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77" name="Freeform 176"/>
          <p:cNvSpPr/>
          <p:nvPr/>
        </p:nvSpPr>
        <p:spPr>
          <a:xfrm>
            <a:off x="2578882" y="3677243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2015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78" name="Freeform 177"/>
          <p:cNvSpPr/>
          <p:nvPr/>
        </p:nvSpPr>
        <p:spPr>
          <a:xfrm>
            <a:off x="2822324" y="1937707"/>
            <a:ext cx="1633156" cy="108178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2</a:t>
            </a:r>
            <a:r>
              <a:rPr lang="en-US" sz="23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300" kern="1200" dirty="0" smtClean="0">
                <a:solidFill>
                  <a:srgbClr val="052B48"/>
                </a:solidFill>
              </a:rPr>
              <a:t> NWB Hackathon at HHMI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79" name="Oval 178"/>
          <p:cNvSpPr>
            <a:spLocks noChangeAspect="1"/>
          </p:cNvSpPr>
          <p:nvPr/>
        </p:nvSpPr>
        <p:spPr>
          <a:xfrm>
            <a:off x="3411963" y="3397696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0" name="Straight Connector 179"/>
          <p:cNvCxnSpPr/>
          <p:nvPr/>
        </p:nvCxnSpPr>
        <p:spPr>
          <a:xfrm flipV="1">
            <a:off x="3634752" y="3012814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Freeform 180"/>
          <p:cNvSpPr/>
          <p:nvPr/>
        </p:nvSpPr>
        <p:spPr>
          <a:xfrm>
            <a:off x="3353918" y="3422712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May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2" name="Oval 181"/>
          <p:cNvSpPr>
            <a:spLocks noChangeAspect="1"/>
          </p:cNvSpPr>
          <p:nvPr/>
        </p:nvSpPr>
        <p:spPr>
          <a:xfrm>
            <a:off x="4524438" y="3397696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83" name="Straight Connector 182"/>
          <p:cNvCxnSpPr/>
          <p:nvPr/>
        </p:nvCxnSpPr>
        <p:spPr>
          <a:xfrm flipV="1">
            <a:off x="4760130" y="385046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 183"/>
          <p:cNvSpPr/>
          <p:nvPr/>
        </p:nvSpPr>
        <p:spPr>
          <a:xfrm>
            <a:off x="4466393" y="3422712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Aug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185" name="Freeform 184"/>
          <p:cNvSpPr/>
          <p:nvPr/>
        </p:nvSpPr>
        <p:spPr>
          <a:xfrm>
            <a:off x="3945126" y="4319522"/>
            <a:ext cx="1633156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kern="1200" dirty="0" smtClean="0">
                <a:solidFill>
                  <a:srgbClr val="052B48"/>
                </a:solidFill>
              </a:rPr>
              <a:t>NWB:N 1.0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86" name="Notched Right Arrow 185"/>
          <p:cNvSpPr/>
          <p:nvPr/>
        </p:nvSpPr>
        <p:spPr>
          <a:xfrm>
            <a:off x="6337688" y="3177229"/>
            <a:ext cx="2255287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bg1">
              <a:lumMod val="65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87" name="Oval 186"/>
          <p:cNvSpPr>
            <a:spLocks noChangeAspect="1"/>
          </p:cNvSpPr>
          <p:nvPr/>
        </p:nvSpPr>
        <p:spPr>
          <a:xfrm>
            <a:off x="7250938" y="3395629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88" name="Freeform 187"/>
          <p:cNvSpPr/>
          <p:nvPr/>
        </p:nvSpPr>
        <p:spPr>
          <a:xfrm>
            <a:off x="6270988" y="3675176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2016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89" name="Freeform 188"/>
          <p:cNvSpPr/>
          <p:nvPr/>
        </p:nvSpPr>
        <p:spPr>
          <a:xfrm>
            <a:off x="7192893" y="342064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cxnSp>
        <p:nvCxnSpPr>
          <p:cNvPr id="190" name="Straight Connector 189"/>
          <p:cNvCxnSpPr/>
          <p:nvPr/>
        </p:nvCxnSpPr>
        <p:spPr>
          <a:xfrm flipV="1">
            <a:off x="7478474" y="3854718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 190"/>
          <p:cNvSpPr/>
          <p:nvPr/>
        </p:nvSpPr>
        <p:spPr>
          <a:xfrm>
            <a:off x="6411722" y="4319522"/>
            <a:ext cx="2181253" cy="67688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1.0.5g Released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2" name="Notched Right Arrow 191"/>
          <p:cNvSpPr/>
          <p:nvPr/>
        </p:nvSpPr>
        <p:spPr>
          <a:xfrm>
            <a:off x="8121379" y="3177229"/>
            <a:ext cx="6078882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93" name="Oval 192"/>
          <p:cNvSpPr>
            <a:spLocks noChangeAspect="1"/>
          </p:cNvSpPr>
          <p:nvPr/>
        </p:nvSpPr>
        <p:spPr>
          <a:xfrm>
            <a:off x="9161858" y="3395629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194" name="Straight Connector 193"/>
          <p:cNvCxnSpPr>
            <a:stCxn id="193" idx="0"/>
          </p:cNvCxnSpPr>
          <p:nvPr/>
        </p:nvCxnSpPr>
        <p:spPr>
          <a:xfrm flipV="1">
            <a:off x="9384647" y="3044788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Freeform 194"/>
          <p:cNvSpPr/>
          <p:nvPr/>
        </p:nvSpPr>
        <p:spPr>
          <a:xfrm>
            <a:off x="8141375" y="3675176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2017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sp>
        <p:nvSpPr>
          <p:cNvPr id="196" name="Freeform 195"/>
          <p:cNvSpPr/>
          <p:nvPr/>
        </p:nvSpPr>
        <p:spPr>
          <a:xfrm>
            <a:off x="9099991" y="342345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Jan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197" name="Freeform 196"/>
          <p:cNvSpPr/>
          <p:nvPr/>
        </p:nvSpPr>
        <p:spPr>
          <a:xfrm>
            <a:off x="8068017" y="1860650"/>
            <a:ext cx="2635110" cy="1237734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KAVLI funds NWB4HPC Project led by LBNL 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198" name="Freeform 197"/>
          <p:cNvSpPr/>
          <p:nvPr/>
        </p:nvSpPr>
        <p:spPr>
          <a:xfrm>
            <a:off x="9769667" y="4145176"/>
            <a:ext cx="1633156" cy="115568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>
                <a:solidFill>
                  <a:srgbClr val="052B48"/>
                </a:solidFill>
              </a:rPr>
              <a:t>3</a:t>
            </a:r>
            <a:r>
              <a:rPr lang="en-US" sz="2200" kern="1200" baseline="30000" dirty="0" smtClean="0">
                <a:solidFill>
                  <a:srgbClr val="052B48"/>
                </a:solidFill>
              </a:rPr>
              <a:t>nd</a:t>
            </a:r>
            <a:r>
              <a:rPr lang="en-US" sz="2200" kern="1200" dirty="0" smtClean="0">
                <a:solidFill>
                  <a:srgbClr val="052B48"/>
                </a:solidFill>
              </a:rPr>
              <a:t> NWB Hackathon at HHMI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199" name="Oval 198"/>
          <p:cNvSpPr>
            <a:spLocks noChangeAspect="1"/>
          </p:cNvSpPr>
          <p:nvPr/>
        </p:nvSpPr>
        <p:spPr>
          <a:xfrm>
            <a:off x="10334135" y="3395629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0" name="Straight Connector 199"/>
          <p:cNvCxnSpPr/>
          <p:nvPr/>
        </p:nvCxnSpPr>
        <p:spPr>
          <a:xfrm flipV="1">
            <a:off x="10556924" y="3849887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Freeform 200"/>
          <p:cNvSpPr/>
          <p:nvPr/>
        </p:nvSpPr>
        <p:spPr>
          <a:xfrm>
            <a:off x="10272268" y="3423456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i="0" u="none" kern="1200" dirty="0" smtClean="0">
                <a:solidFill>
                  <a:srgbClr val="052B48"/>
                </a:solidFill>
              </a:rPr>
              <a:t>Jul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2" name="Oval 201"/>
          <p:cNvSpPr>
            <a:spLocks noChangeAspect="1"/>
          </p:cNvSpPr>
          <p:nvPr/>
        </p:nvSpPr>
        <p:spPr>
          <a:xfrm>
            <a:off x="11529915" y="3392818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3" name="Straight Connector 202"/>
          <p:cNvCxnSpPr>
            <a:stCxn id="202" idx="0"/>
          </p:cNvCxnSpPr>
          <p:nvPr/>
        </p:nvCxnSpPr>
        <p:spPr>
          <a:xfrm flipV="1">
            <a:off x="11752704" y="3041977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Freeform 203"/>
          <p:cNvSpPr/>
          <p:nvPr/>
        </p:nvSpPr>
        <p:spPr>
          <a:xfrm>
            <a:off x="11468048" y="3420645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Aug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05" name="Freeform 204"/>
          <p:cNvSpPr/>
          <p:nvPr/>
        </p:nvSpPr>
        <p:spPr>
          <a:xfrm>
            <a:off x="10633491" y="2294920"/>
            <a:ext cx="2232399" cy="749867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NWB Executive Board Founded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06" name="Freeform 205"/>
          <p:cNvSpPr/>
          <p:nvPr/>
        </p:nvSpPr>
        <p:spPr>
          <a:xfrm>
            <a:off x="11944781" y="4203661"/>
            <a:ext cx="2151831" cy="130326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NWB:N 2.0beta, PyNWB, and MatNWB released (</a:t>
            </a:r>
            <a:r>
              <a:rPr lang="en-US" sz="2200" dirty="0" err="1" smtClean="0">
                <a:solidFill>
                  <a:srgbClr val="052B48"/>
                </a:solidFill>
              </a:rPr>
              <a:t>SfN</a:t>
            </a:r>
            <a:r>
              <a:rPr lang="en-US" sz="2200" dirty="0" smtClean="0">
                <a:solidFill>
                  <a:srgbClr val="052B48"/>
                </a:solidFill>
              </a:rPr>
              <a:t>)  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sp>
        <p:nvSpPr>
          <p:cNvPr id="207" name="Oval 206"/>
          <p:cNvSpPr>
            <a:spLocks noChangeAspect="1"/>
          </p:cNvSpPr>
          <p:nvPr/>
        </p:nvSpPr>
        <p:spPr>
          <a:xfrm>
            <a:off x="12784894" y="338590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08" name="Straight Connector 207"/>
          <p:cNvCxnSpPr/>
          <p:nvPr/>
        </p:nvCxnSpPr>
        <p:spPr>
          <a:xfrm flipV="1">
            <a:off x="13007683" y="3845419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 208"/>
          <p:cNvSpPr/>
          <p:nvPr/>
        </p:nvSpPr>
        <p:spPr>
          <a:xfrm>
            <a:off x="12723027" y="341373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0" name="Notched Right Arrow 209"/>
          <p:cNvSpPr/>
          <p:nvPr/>
        </p:nvSpPr>
        <p:spPr>
          <a:xfrm>
            <a:off x="13774298" y="3177229"/>
            <a:ext cx="5423469" cy="885739"/>
          </a:xfrm>
          <a:prstGeom prst="notchedRightArrow">
            <a:avLst>
              <a:gd name="adj1" fmla="val 100000"/>
              <a:gd name="adj2" fmla="val 47999"/>
            </a:avLst>
          </a:prstGeom>
          <a:gradFill flip="none" rotWithShape="1">
            <a:gsLst>
              <a:gs pos="54000">
                <a:schemeClr val="accent1"/>
              </a:gs>
              <a:gs pos="84000">
                <a:schemeClr val="accent2"/>
              </a:gs>
            </a:gsLst>
            <a:lin ang="0" scaled="1"/>
            <a:tileRect/>
          </a:gradFill>
          <a:ln>
            <a:solidFill>
              <a:srgbClr val="052B48"/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11" name="Freeform 210"/>
          <p:cNvSpPr/>
          <p:nvPr/>
        </p:nvSpPr>
        <p:spPr>
          <a:xfrm>
            <a:off x="5026984" y="2355079"/>
            <a:ext cx="1633156" cy="72965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kern="1200" dirty="0" smtClean="0">
                <a:solidFill>
                  <a:srgbClr val="052B48"/>
                </a:solidFill>
              </a:rPr>
              <a:t>Neuron Paper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2" name="Oval 211"/>
          <p:cNvSpPr>
            <a:spLocks noChangeAspect="1"/>
          </p:cNvSpPr>
          <p:nvPr/>
        </p:nvSpPr>
        <p:spPr>
          <a:xfrm>
            <a:off x="5615935" y="3390533"/>
            <a:ext cx="445578" cy="445578"/>
          </a:xfrm>
          <a:prstGeom prst="ellipse">
            <a:avLst/>
          </a:prstGeom>
          <a:solidFill>
            <a:srgbClr val="052B48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3" name="Straight Connector 212"/>
          <p:cNvCxnSpPr/>
          <p:nvPr/>
        </p:nvCxnSpPr>
        <p:spPr>
          <a:xfrm flipV="1">
            <a:off x="5838724" y="301488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Freeform 213"/>
          <p:cNvSpPr/>
          <p:nvPr/>
        </p:nvSpPr>
        <p:spPr>
          <a:xfrm>
            <a:off x="5557890" y="341554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chemeClr val="bg1"/>
                </a:solidFill>
              </a:rPr>
              <a:t>Nov</a:t>
            </a:r>
            <a:endParaRPr lang="en-US" sz="1600" b="1" kern="1200" dirty="0">
              <a:solidFill>
                <a:schemeClr val="bg1"/>
              </a:solidFill>
            </a:endParaRPr>
          </a:p>
        </p:txBody>
      </p:sp>
      <p:sp>
        <p:nvSpPr>
          <p:cNvPr id="215" name="Freeform 214"/>
          <p:cNvSpPr/>
          <p:nvPr/>
        </p:nvSpPr>
        <p:spPr>
          <a:xfrm>
            <a:off x="14386473" y="1648603"/>
            <a:ext cx="2151637" cy="1370890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4</a:t>
            </a:r>
            <a:r>
              <a:rPr lang="en-US" sz="2300" baseline="30000" dirty="0" smtClean="0">
                <a:solidFill>
                  <a:srgbClr val="052B48"/>
                </a:solidFill>
              </a:rPr>
              <a:t>th</a:t>
            </a:r>
            <a:r>
              <a:rPr lang="en-US" sz="2300" dirty="0" smtClean="0">
                <a:solidFill>
                  <a:srgbClr val="052B48"/>
                </a:solidFill>
              </a:rPr>
              <a:t> NWB:N Developer Hackathon at AIBS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16" name="Oval 215"/>
          <p:cNvSpPr>
            <a:spLocks noChangeAspect="1"/>
          </p:cNvSpPr>
          <p:nvPr/>
        </p:nvSpPr>
        <p:spPr>
          <a:xfrm>
            <a:off x="15234035" y="3387722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cxnSp>
        <p:nvCxnSpPr>
          <p:cNvPr id="217" name="Straight Connector 216"/>
          <p:cNvCxnSpPr/>
          <p:nvPr/>
        </p:nvCxnSpPr>
        <p:spPr>
          <a:xfrm flipV="1">
            <a:off x="15456824" y="3029941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Freeform 217"/>
          <p:cNvSpPr/>
          <p:nvPr/>
        </p:nvSpPr>
        <p:spPr>
          <a:xfrm>
            <a:off x="15172168" y="341554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Apr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19" name="Freeform 218"/>
          <p:cNvSpPr/>
          <p:nvPr/>
        </p:nvSpPr>
        <p:spPr>
          <a:xfrm>
            <a:off x="14622076" y="4203563"/>
            <a:ext cx="1674385" cy="131627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rgbClr val="052B48"/>
                </a:solidFill>
              </a:rPr>
              <a:t>5</a:t>
            </a:r>
            <a:r>
              <a:rPr lang="en-US" sz="2200" baseline="30000" dirty="0" smtClean="0">
                <a:solidFill>
                  <a:srgbClr val="052B48"/>
                </a:solidFill>
              </a:rPr>
              <a:t>th</a:t>
            </a:r>
            <a:r>
              <a:rPr lang="en-US" sz="2200" dirty="0" smtClean="0">
                <a:solidFill>
                  <a:srgbClr val="052B48"/>
                </a:solidFill>
              </a:rPr>
              <a:t> NWB:N User Hackathon at LBNL</a:t>
            </a:r>
            <a:endParaRPr lang="en-US" sz="2200" kern="1200" dirty="0">
              <a:solidFill>
                <a:srgbClr val="052B48"/>
              </a:solidFill>
            </a:endParaRPr>
          </a:p>
        </p:txBody>
      </p:sp>
      <p:cxnSp>
        <p:nvCxnSpPr>
          <p:cNvPr id="220" name="Straight Connector 219"/>
          <p:cNvCxnSpPr/>
          <p:nvPr/>
        </p:nvCxnSpPr>
        <p:spPr>
          <a:xfrm flipV="1">
            <a:off x="15456824" y="3849623"/>
            <a:ext cx="0" cy="350841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Freeform 220"/>
          <p:cNvSpPr/>
          <p:nvPr/>
        </p:nvSpPr>
        <p:spPr>
          <a:xfrm>
            <a:off x="13784722" y="3683178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052B48"/>
                </a:solidFill>
              </a:rPr>
              <a:t>2018</a:t>
            </a:r>
            <a:endParaRPr lang="en-US" sz="2200" b="1" kern="1200" dirty="0">
              <a:solidFill>
                <a:srgbClr val="052B48"/>
              </a:solidFill>
            </a:endParaRPr>
          </a:p>
        </p:txBody>
      </p:sp>
      <p:cxnSp>
        <p:nvCxnSpPr>
          <p:cNvPr id="222" name="Straight Connector 221"/>
          <p:cNvCxnSpPr/>
          <p:nvPr/>
        </p:nvCxnSpPr>
        <p:spPr>
          <a:xfrm flipV="1">
            <a:off x="17511756" y="3014881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Freeform 222"/>
          <p:cNvSpPr/>
          <p:nvPr/>
        </p:nvSpPr>
        <p:spPr>
          <a:xfrm>
            <a:off x="16816616" y="1698874"/>
            <a:ext cx="1398235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Welcome to SfN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24" name="Oval 223"/>
          <p:cNvSpPr>
            <a:spLocks noChangeAspect="1"/>
          </p:cNvSpPr>
          <p:nvPr/>
        </p:nvSpPr>
        <p:spPr>
          <a:xfrm>
            <a:off x="17288967" y="3385906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5" name="Freeform 224"/>
          <p:cNvSpPr/>
          <p:nvPr/>
        </p:nvSpPr>
        <p:spPr>
          <a:xfrm>
            <a:off x="17227100" y="3413733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kern="1200" dirty="0" smtClean="0">
                <a:solidFill>
                  <a:srgbClr val="052B48"/>
                </a:solidFill>
              </a:rPr>
              <a:t>Nov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26" name="Oval 225"/>
          <p:cNvSpPr>
            <a:spLocks noChangeAspect="1"/>
          </p:cNvSpPr>
          <p:nvPr/>
        </p:nvSpPr>
        <p:spPr>
          <a:xfrm>
            <a:off x="18322240" y="3395980"/>
            <a:ext cx="445578" cy="44557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7" name="Freeform 226"/>
          <p:cNvSpPr/>
          <p:nvPr/>
        </p:nvSpPr>
        <p:spPr>
          <a:xfrm>
            <a:off x="18260373" y="3423807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953735"/>
                </a:solidFill>
              </a:rPr>
              <a:t>Dec</a:t>
            </a:r>
            <a:endParaRPr lang="en-US" sz="1600" b="1" kern="1200" dirty="0">
              <a:solidFill>
                <a:srgbClr val="953735"/>
              </a:solidFill>
            </a:endParaRPr>
          </a:p>
        </p:txBody>
      </p:sp>
      <p:cxnSp>
        <p:nvCxnSpPr>
          <p:cNvPr id="228" name="Straight Connector 227"/>
          <p:cNvCxnSpPr/>
          <p:nvPr/>
        </p:nvCxnSpPr>
        <p:spPr>
          <a:xfrm flipV="1">
            <a:off x="18548893" y="3849623"/>
            <a:ext cx="0" cy="350841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Freeform 228"/>
          <p:cNvSpPr/>
          <p:nvPr/>
        </p:nvSpPr>
        <p:spPr>
          <a:xfrm>
            <a:off x="17737926" y="4201310"/>
            <a:ext cx="1622513" cy="1301816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NWB:N 2.0, PyNWB, MatNWB, release </a:t>
            </a:r>
          </a:p>
        </p:txBody>
      </p:sp>
      <p:sp>
        <p:nvSpPr>
          <p:cNvPr id="230" name="Notched Right Arrow 229"/>
          <p:cNvSpPr/>
          <p:nvPr/>
        </p:nvSpPr>
        <p:spPr>
          <a:xfrm>
            <a:off x="18767818" y="3177229"/>
            <a:ext cx="2674771" cy="885739"/>
          </a:xfrm>
          <a:prstGeom prst="notchedRightArrow">
            <a:avLst>
              <a:gd name="adj1" fmla="val 100000"/>
              <a:gd name="adj2" fmla="val 47999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35" name="Left Brace 234"/>
          <p:cNvSpPr/>
          <p:nvPr/>
        </p:nvSpPr>
        <p:spPr>
          <a:xfrm rot="16200000">
            <a:off x="4407180" y="1949628"/>
            <a:ext cx="351662" cy="7134888"/>
          </a:xfrm>
          <a:prstGeom prst="leftBrace">
            <a:avLst/>
          </a:prstGeom>
          <a:ln w="28575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6" name="Left Brace 235"/>
          <p:cNvSpPr/>
          <p:nvPr/>
        </p:nvSpPr>
        <p:spPr>
          <a:xfrm rot="16200000">
            <a:off x="12798004" y="693691"/>
            <a:ext cx="351659" cy="9646757"/>
          </a:xfrm>
          <a:prstGeom prst="leftBrace">
            <a:avLst/>
          </a:prstGeom>
          <a:ln w="28575" cmpd="sng"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7" name="Freeform 236"/>
          <p:cNvSpPr/>
          <p:nvPr/>
        </p:nvSpPr>
        <p:spPr>
          <a:xfrm>
            <a:off x="3761718" y="5658126"/>
            <a:ext cx="163315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NWB:N 1.0</a:t>
            </a:r>
            <a:endParaRPr lang="en-US" sz="2200" b="1" kern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8" name="Freeform 237"/>
          <p:cNvSpPr/>
          <p:nvPr/>
        </p:nvSpPr>
        <p:spPr>
          <a:xfrm>
            <a:off x="12157852" y="5639662"/>
            <a:ext cx="1633156" cy="462552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kern="1200" dirty="0" smtClean="0">
                <a:solidFill>
                  <a:schemeClr val="tx2"/>
                </a:solidFill>
              </a:rPr>
              <a:t>NWB:N 2.0</a:t>
            </a:r>
            <a:endParaRPr lang="en-US" sz="2200" b="1" kern="1200" dirty="0">
              <a:solidFill>
                <a:schemeClr val="tx2"/>
              </a:solidFill>
            </a:endParaRPr>
          </a:p>
        </p:txBody>
      </p:sp>
      <p:sp>
        <p:nvSpPr>
          <p:cNvPr id="239" name="Freeform 238"/>
          <p:cNvSpPr/>
          <p:nvPr/>
        </p:nvSpPr>
        <p:spPr>
          <a:xfrm>
            <a:off x="18824801" y="3683178"/>
            <a:ext cx="1138013" cy="397400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b="1" i="0" u="none" kern="1200" dirty="0" smtClean="0">
                <a:solidFill>
                  <a:srgbClr val="501E1D"/>
                </a:solidFill>
              </a:rPr>
              <a:t>2019</a:t>
            </a:r>
            <a:endParaRPr lang="en-US" sz="2200" b="1" kern="1200" dirty="0">
              <a:solidFill>
                <a:srgbClr val="501E1D"/>
              </a:solidFill>
            </a:endParaRPr>
          </a:p>
        </p:txBody>
      </p:sp>
      <p:cxnSp>
        <p:nvCxnSpPr>
          <p:cNvPr id="240" name="Straight Connector 239"/>
          <p:cNvCxnSpPr/>
          <p:nvPr/>
        </p:nvCxnSpPr>
        <p:spPr>
          <a:xfrm flipV="1">
            <a:off x="16977331" y="3850469"/>
            <a:ext cx="0" cy="364353"/>
          </a:xfrm>
          <a:prstGeom prst="line">
            <a:avLst/>
          </a:prstGeom>
          <a:ln>
            <a:solidFill>
              <a:srgbClr val="052B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240"/>
          <p:cNvSpPr>
            <a:spLocks noChangeAspect="1"/>
          </p:cNvSpPr>
          <p:nvPr/>
        </p:nvSpPr>
        <p:spPr>
          <a:xfrm>
            <a:off x="16757899" y="3387722"/>
            <a:ext cx="445578" cy="44557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42" name="Freeform 241"/>
          <p:cNvSpPr/>
          <p:nvPr/>
        </p:nvSpPr>
        <p:spPr>
          <a:xfrm>
            <a:off x="16696032" y="3415549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b="1" dirty="0" smtClean="0">
                <a:solidFill>
                  <a:srgbClr val="052B48"/>
                </a:solidFill>
              </a:rPr>
              <a:t>Oct</a:t>
            </a:r>
            <a:endParaRPr lang="en-US" sz="1600" b="1" kern="1200" dirty="0">
              <a:solidFill>
                <a:srgbClr val="052B48"/>
              </a:solidFill>
            </a:endParaRPr>
          </a:p>
        </p:txBody>
      </p:sp>
      <p:sp>
        <p:nvSpPr>
          <p:cNvPr id="243" name="Freeform 242"/>
          <p:cNvSpPr/>
          <p:nvPr/>
        </p:nvSpPr>
        <p:spPr>
          <a:xfrm>
            <a:off x="16352541" y="3957414"/>
            <a:ext cx="1256679" cy="1312409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300" dirty="0" smtClean="0">
                <a:solidFill>
                  <a:srgbClr val="052B48"/>
                </a:solidFill>
              </a:rPr>
              <a:t>NIH funds NWB:N</a:t>
            </a:r>
            <a:endParaRPr lang="en-US" sz="2300" kern="1200" dirty="0">
              <a:solidFill>
                <a:srgbClr val="052B48"/>
              </a:solidFill>
            </a:endParaRPr>
          </a:p>
        </p:txBody>
      </p:sp>
      <p:sp>
        <p:nvSpPr>
          <p:cNvPr id="244" name="Left Brace 243"/>
          <p:cNvSpPr/>
          <p:nvPr/>
        </p:nvSpPr>
        <p:spPr>
          <a:xfrm rot="16200000">
            <a:off x="19444072" y="3694381"/>
            <a:ext cx="351660" cy="3645380"/>
          </a:xfrm>
          <a:prstGeom prst="leftBrace">
            <a:avLst/>
          </a:prstGeom>
          <a:ln w="28575" cmpd="sng">
            <a:solidFill>
              <a:srgbClr val="8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5" name="Freeform 244"/>
          <p:cNvSpPr/>
          <p:nvPr/>
        </p:nvSpPr>
        <p:spPr>
          <a:xfrm>
            <a:off x="18214851" y="5516289"/>
            <a:ext cx="2813384" cy="642435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0"/>
              </a:lnSpc>
              <a:spcBef>
                <a:spcPct val="0"/>
              </a:spcBef>
              <a:spcAft>
                <a:spcPts val="500"/>
              </a:spcAft>
            </a:pPr>
            <a:r>
              <a:rPr lang="en-US" sz="2200" b="1" kern="1200" dirty="0" smtClean="0">
                <a:solidFill>
                  <a:srgbClr val="953735"/>
                </a:solidFill>
              </a:rPr>
              <a:t>Future Events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b="1" dirty="0" smtClean="0">
                <a:solidFill>
                  <a:srgbClr val="953735"/>
                </a:solidFill>
              </a:rPr>
              <a:t>(dates subject to change)</a:t>
            </a:r>
            <a:endParaRPr lang="en-US" sz="1200" b="1" kern="1200" dirty="0">
              <a:solidFill>
                <a:srgbClr val="953735"/>
              </a:solidFill>
            </a:endParaRPr>
          </a:p>
        </p:txBody>
      </p:sp>
      <p:sp>
        <p:nvSpPr>
          <p:cNvPr id="246" name="Oval 245"/>
          <p:cNvSpPr>
            <a:spLocks noChangeAspect="1"/>
          </p:cNvSpPr>
          <p:nvPr/>
        </p:nvSpPr>
        <p:spPr>
          <a:xfrm>
            <a:off x="20410648" y="3398233"/>
            <a:ext cx="445578" cy="44557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47" name="Freeform 246"/>
          <p:cNvSpPr/>
          <p:nvPr/>
        </p:nvSpPr>
        <p:spPr>
          <a:xfrm>
            <a:off x="20348781" y="3426060"/>
            <a:ext cx="569312" cy="393474"/>
          </a:xfrm>
          <a:custGeom>
            <a:avLst/>
            <a:gdLst>
              <a:gd name="connsiteX0" fmla="*/ 0 w 686503"/>
              <a:gd name="connsiteY0" fmla="*/ 0 h 1131184"/>
              <a:gd name="connsiteX1" fmla="*/ 686503 w 686503"/>
              <a:gd name="connsiteY1" fmla="*/ 0 h 1131184"/>
              <a:gd name="connsiteX2" fmla="*/ 686503 w 686503"/>
              <a:gd name="connsiteY2" fmla="*/ 1131184 h 1131184"/>
              <a:gd name="connsiteX3" fmla="*/ 0 w 686503"/>
              <a:gd name="connsiteY3" fmla="*/ 1131184 h 1131184"/>
              <a:gd name="connsiteX4" fmla="*/ 0 w 686503"/>
              <a:gd name="connsiteY4" fmla="*/ 0 h 1131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503" h="1131184">
                <a:moveTo>
                  <a:pt x="0" y="0"/>
                </a:moveTo>
                <a:lnTo>
                  <a:pt x="686503" y="0"/>
                </a:lnTo>
                <a:lnTo>
                  <a:pt x="686503" y="1131184"/>
                </a:lnTo>
                <a:lnTo>
                  <a:pt x="0" y="113118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t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mr-IN" sz="1600" b="1" kern="1200" dirty="0" smtClean="0">
                <a:solidFill>
                  <a:srgbClr val="953735"/>
                </a:solidFill>
              </a:rPr>
              <a:t>…</a:t>
            </a:r>
            <a:endParaRPr lang="en-US" sz="1600" b="1" kern="1200" dirty="0">
              <a:solidFill>
                <a:srgbClr val="953735"/>
              </a:solidFill>
            </a:endParaRPr>
          </a:p>
        </p:txBody>
      </p:sp>
      <p:cxnSp>
        <p:nvCxnSpPr>
          <p:cNvPr id="248" name="Straight Connector 247"/>
          <p:cNvCxnSpPr/>
          <p:nvPr/>
        </p:nvCxnSpPr>
        <p:spPr>
          <a:xfrm flipV="1">
            <a:off x="20637301" y="3851876"/>
            <a:ext cx="0" cy="350841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Freeform 248"/>
          <p:cNvSpPr/>
          <p:nvPr/>
        </p:nvSpPr>
        <p:spPr>
          <a:xfrm>
            <a:off x="19826334" y="4209555"/>
            <a:ext cx="1622513" cy="1136613"/>
          </a:xfrm>
          <a:custGeom>
            <a:avLst/>
            <a:gdLst>
              <a:gd name="connsiteX0" fmla="*/ 0 w 907618"/>
              <a:gd name="connsiteY0" fmla="*/ 0 h 1220540"/>
              <a:gd name="connsiteX1" fmla="*/ 907618 w 907618"/>
              <a:gd name="connsiteY1" fmla="*/ 0 h 1220540"/>
              <a:gd name="connsiteX2" fmla="*/ 907618 w 907618"/>
              <a:gd name="connsiteY2" fmla="*/ 1220540 h 1220540"/>
              <a:gd name="connsiteX3" fmla="*/ 0 w 907618"/>
              <a:gd name="connsiteY3" fmla="*/ 1220540 h 1220540"/>
              <a:gd name="connsiteX4" fmla="*/ 0 w 907618"/>
              <a:gd name="connsiteY4" fmla="*/ 0 h 1220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7618" h="1220540">
                <a:moveTo>
                  <a:pt x="0" y="0"/>
                </a:moveTo>
                <a:lnTo>
                  <a:pt x="907618" y="0"/>
                </a:lnTo>
                <a:lnTo>
                  <a:pt x="907618" y="1220540"/>
                </a:lnTo>
                <a:lnTo>
                  <a:pt x="0" y="12205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5344" tIns="85344" rIns="85344" bIns="85344" numCol="1" spcCol="1270" anchor="b" anchorCtr="0">
            <a:no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NWB:N hackathon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accent2">
                    <a:lumMod val="75000"/>
                  </a:schemeClr>
                </a:solidFill>
              </a:rPr>
              <a:t>(date to be determined )</a:t>
            </a:r>
          </a:p>
        </p:txBody>
      </p:sp>
    </p:spTree>
    <p:extLst>
      <p:ext uri="{BB962C8B-B14F-4D97-AF65-F5344CB8AC3E}">
        <p14:creationId xmlns:p14="http://schemas.microsoft.com/office/powerpoint/2010/main" val="1417017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575</Words>
  <Application>Microsoft Macintosh PowerPoint</Application>
  <PresentationFormat>Custom</PresentationFormat>
  <Paragraphs>178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PowerPoint Presentation</vt:lpstr>
      <vt:lpstr>Previous Versions</vt:lpstr>
      <vt:lpstr>PowerPoint Presentation</vt:lpstr>
      <vt:lpstr>PowerPoint Presentation</vt:lpstr>
      <vt:lpstr>PowerPoint Presentation</vt:lpstr>
    </vt:vector>
  </TitlesOfParts>
  <Company>LBNL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Oliver Ruebel</dc:creator>
  <cp:lastModifiedBy>Oliver Ruebel</cp:lastModifiedBy>
  <cp:revision>8</cp:revision>
  <dcterms:created xsi:type="dcterms:W3CDTF">2018-11-02T01:16:52Z</dcterms:created>
  <dcterms:modified xsi:type="dcterms:W3CDTF">2021-04-19T00:05:42Z</dcterms:modified>
</cp:coreProperties>
</file>