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59" r:id="rId4"/>
    <p:sldId id="256" r:id="rId5"/>
  </p:sldIdLst>
  <p:sldSz cx="22860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FE9300"/>
    <a:srgbClr val="FF7727"/>
    <a:srgbClr val="C55B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>
        <p:scale>
          <a:sx n="76" d="100"/>
          <a:sy n="76" d="100"/>
        </p:scale>
        <p:origin x="-2808" y="-2848"/>
      </p:cViewPr>
      <p:guideLst>
        <p:guide orient="horz" pos="3553"/>
        <p:guide pos="550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interSettings" Target="printerSettings/printerSettings1.bin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2130427"/>
            <a:ext cx="194310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3886200"/>
            <a:ext cx="160020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3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5782" y="4406902"/>
            <a:ext cx="194310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05782" y="2906713"/>
            <a:ext cx="194310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824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5814" y="1600202"/>
            <a:ext cx="1832768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64502" y="1600202"/>
            <a:ext cx="1832768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274638"/>
            <a:ext cx="205740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535113"/>
            <a:ext cx="1010046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174875"/>
            <a:ext cx="1010046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612564" y="1535113"/>
            <a:ext cx="101044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612564" y="2174875"/>
            <a:ext cx="101044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046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10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9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2" y="273050"/>
            <a:ext cx="7520782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7625" y="273052"/>
            <a:ext cx="1277937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2" y="1435102"/>
            <a:ext cx="7520782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58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0719" y="4800600"/>
            <a:ext cx="137160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480719" y="612775"/>
            <a:ext cx="13716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80719" y="5367338"/>
            <a:ext cx="137160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7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16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833097" y="274640"/>
            <a:ext cx="9259093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55815" y="274640"/>
            <a:ext cx="27396282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86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274638"/>
            <a:ext cx="20574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600202"/>
            <a:ext cx="20574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3000" y="6356352"/>
            <a:ext cx="533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05D932-05F1-9D4A-98AF-69C52170003B}" type="datetimeFigureOut">
              <a:rPr lang="en-US" smtClean="0"/>
              <a:t>2/25/20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10500" y="6356352"/>
            <a:ext cx="7239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383000" y="6356352"/>
            <a:ext cx="533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892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-1129233" y="2533718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-236554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-5688" y="320169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-1167469" y="303166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-294599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-836316" y="3532920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500785" y="2533718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434084" y="303166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677526" y="1292129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1267165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1489954" y="2367236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1209120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2379640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2615332" y="320489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2321595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1800328" y="3673944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4192890" y="2531651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5106140" y="2750051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4126190" y="302959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5048095" y="277506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5333676" y="3209140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4266924" y="3673944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5976581" y="2531651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7017060" y="2750051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7239849" y="2399210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5996577" y="302959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6955193" y="2777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5923219" y="1215072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7624869" y="3499598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8189337" y="2750051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8412126" y="320430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8127470" y="2777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9385117" y="274724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9607906" y="239639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9323250" y="277506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8488693" y="1649342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9799983" y="3558083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0640096" y="27403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0862885" y="319984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0578229" y="27681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1629500" y="2531651"/>
            <a:ext cx="435604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/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2882186" y="1709501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3471137" y="2744955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3693926" y="23693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3413092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2241675" y="1003025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</a:t>
            </a:r>
            <a:r>
              <a:rPr lang="en-US" sz="2300" dirty="0" smtClean="0">
                <a:solidFill>
                  <a:srgbClr val="052B48"/>
                </a:solidFill>
              </a:rPr>
              <a:t>NWB </a:t>
            </a:r>
            <a:r>
              <a:rPr lang="en-US" sz="2300" dirty="0" smtClean="0">
                <a:solidFill>
                  <a:srgbClr val="052B48"/>
                </a:solidFill>
              </a:rPr>
              <a:t>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3089237" y="27421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3312026" y="238436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3027370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2477278" y="3557985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</a:t>
            </a:r>
            <a:r>
              <a:rPr lang="en-US" sz="2200" dirty="0" smtClean="0">
                <a:solidFill>
                  <a:srgbClr val="052B48"/>
                </a:solidFill>
              </a:rPr>
              <a:t>NWB </a:t>
            </a:r>
            <a:r>
              <a:rPr lang="en-US" sz="2200" dirty="0" smtClean="0">
                <a:solidFill>
                  <a:srgbClr val="052B48"/>
                </a:solidFill>
              </a:rPr>
              <a:t>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3312026" y="3204045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1639924" y="303760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5366958" y="23693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4671818" y="1053296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5144169" y="27403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5082302" y="27681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35" name="Left Brace 234"/>
          <p:cNvSpPr/>
          <p:nvPr/>
        </p:nvSpPr>
        <p:spPr>
          <a:xfrm rot="16200000">
            <a:off x="2262382" y="1304050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1647090" y="-945774"/>
            <a:ext cx="351659" cy="11634526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1616920" y="5012548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6005657" y="5012548"/>
            <a:ext cx="1163452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>
                    <a:lumMod val="75000"/>
                  </a:schemeClr>
                </a:solidFill>
              </a:rPr>
              <a:t>NWB:N 2.0</a:t>
            </a:r>
            <a:endParaRPr lang="en-US" sz="2200" b="1" kern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4832533" y="320489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4613101" y="27421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4551234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4117031" y="3481936"/>
            <a:ext cx="1443871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</a:t>
            </a:r>
            <a:r>
              <a:rPr lang="en-US" sz="2300" dirty="0" smtClean="0">
                <a:solidFill>
                  <a:srgbClr val="052B48"/>
                </a:solidFill>
              </a:rPr>
              <a:t>  funds </a:t>
            </a:r>
            <a:r>
              <a:rPr lang="en-US" sz="2300" dirty="0" smtClean="0">
                <a:solidFill>
                  <a:srgbClr val="052B48"/>
                </a:solidFill>
              </a:rPr>
              <a:t>NWB:</a:t>
            </a:r>
            <a:r>
              <a:rPr lang="en-US" sz="2300" dirty="0" smtClean="0">
                <a:solidFill>
                  <a:srgbClr val="052B48"/>
                </a:solidFill>
              </a:rPr>
              <a:t>N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nl-NL" sz="1200" dirty="0"/>
              <a:t>1R24MH116922-01</a:t>
            </a:r>
            <a:endParaRPr lang="en-US" sz="12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20238682" y="2104810"/>
            <a:ext cx="351660" cy="5548654"/>
          </a:xfrm>
          <a:prstGeom prst="leftBrace">
            <a:avLst/>
          </a:prstGeom>
          <a:ln w="28575" cmpd="sng">
            <a:solidFill>
              <a:srgbClr val="C55B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Notched Right Arrow 77"/>
          <p:cNvSpPr/>
          <p:nvPr/>
        </p:nvSpPr>
        <p:spPr>
          <a:xfrm>
            <a:off x="15567851" y="2531651"/>
            <a:ext cx="5646708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54000">
                <a:schemeClr val="accent1">
                  <a:lumMod val="75000"/>
                </a:schemeClr>
              </a:gs>
              <a:gs pos="80000">
                <a:schemeClr val="accent6"/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cxnSp>
        <p:nvCxnSpPr>
          <p:cNvPr id="79" name="Straight Connector 78"/>
          <p:cNvCxnSpPr/>
          <p:nvPr/>
        </p:nvCxnSpPr>
        <p:spPr>
          <a:xfrm flipV="1">
            <a:off x="18268257" y="236263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>
            <a:spLocks noChangeAspect="1"/>
          </p:cNvSpPr>
          <p:nvPr/>
        </p:nvSpPr>
        <p:spPr>
          <a:xfrm>
            <a:off x="18045468" y="273365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1" name="Freeform 80"/>
          <p:cNvSpPr/>
          <p:nvPr/>
        </p:nvSpPr>
        <p:spPr>
          <a:xfrm>
            <a:off x="17983601" y="276148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May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16803244" y="3198219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>
            <a:spLocks noChangeAspect="1"/>
          </p:cNvSpPr>
          <p:nvPr/>
        </p:nvSpPr>
        <p:spPr>
          <a:xfrm>
            <a:off x="16594768" y="273547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4" name="Freeform 83"/>
          <p:cNvSpPr/>
          <p:nvPr/>
        </p:nvSpPr>
        <p:spPr>
          <a:xfrm>
            <a:off x="16532901" y="276329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85" name="Freeform 84"/>
          <p:cNvSpPr/>
          <p:nvPr/>
        </p:nvSpPr>
        <p:spPr>
          <a:xfrm>
            <a:off x="16101012" y="3573493"/>
            <a:ext cx="1624490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 2.0, </a:t>
            </a:r>
            <a:r>
              <a:rPr lang="en-US" sz="2300" dirty="0" err="1" smtClean="0">
                <a:solidFill>
                  <a:srgbClr val="052B48"/>
                </a:solidFill>
              </a:rPr>
              <a:t>PyNWB</a:t>
            </a:r>
            <a:r>
              <a:rPr lang="en-US" sz="2300" dirty="0" smtClean="0">
                <a:solidFill>
                  <a:srgbClr val="052B48"/>
                </a:solidFill>
              </a:rPr>
              <a:t>, </a:t>
            </a:r>
            <a:r>
              <a:rPr lang="en-US" sz="2300" dirty="0" err="1" smtClean="0">
                <a:solidFill>
                  <a:srgbClr val="052B48"/>
                </a:solidFill>
              </a:rPr>
              <a:t>MatNWB</a:t>
            </a:r>
            <a:r>
              <a:rPr lang="en-US" sz="2300" dirty="0">
                <a:solidFill>
                  <a:srgbClr val="052B48"/>
                </a:solidFill>
              </a:rPr>
              <a:t> </a:t>
            </a:r>
            <a:r>
              <a:rPr lang="en-US" sz="2300" dirty="0" smtClean="0">
                <a:solidFill>
                  <a:srgbClr val="052B48"/>
                </a:solidFill>
              </a:rPr>
              <a:t>release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6" name="Freeform 85"/>
          <p:cNvSpPr/>
          <p:nvPr/>
        </p:nvSpPr>
        <p:spPr>
          <a:xfrm>
            <a:off x="15521272" y="303760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2019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87" name="Freeform 86"/>
          <p:cNvSpPr/>
          <p:nvPr/>
        </p:nvSpPr>
        <p:spPr>
          <a:xfrm>
            <a:off x="17171722" y="1047882"/>
            <a:ext cx="221660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6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 </a:t>
            </a:r>
            <a:r>
              <a:rPr lang="en-US" sz="2300" dirty="0" smtClean="0">
                <a:solidFill>
                  <a:srgbClr val="052B48"/>
                </a:solidFill>
              </a:rPr>
              <a:t>User Days and Developer </a:t>
            </a:r>
            <a:r>
              <a:rPr lang="en-US" sz="2300" dirty="0" err="1" smtClean="0">
                <a:solidFill>
                  <a:srgbClr val="052B48"/>
                </a:solidFill>
              </a:rPr>
              <a:t>Hackathon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8" name="Freeform 87"/>
          <p:cNvSpPr/>
          <p:nvPr/>
        </p:nvSpPr>
        <p:spPr>
          <a:xfrm>
            <a:off x="17641947" y="5012548"/>
            <a:ext cx="5548655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rgbClr val="C55B1E"/>
                </a:solidFill>
              </a:rPr>
              <a:t>NWB:N 2.x</a:t>
            </a:r>
            <a:endParaRPr lang="en-US" sz="2200" b="1" kern="1200" dirty="0">
              <a:solidFill>
                <a:srgbClr val="C55B1E"/>
              </a:solidFill>
            </a:endParaRP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19438946" y="3191798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>
            <a:spLocks noChangeAspect="1"/>
          </p:cNvSpPr>
          <p:nvPr/>
        </p:nvSpPr>
        <p:spPr>
          <a:xfrm>
            <a:off x="19219131" y="2729051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91" name="Freeform 90"/>
          <p:cNvSpPr/>
          <p:nvPr/>
        </p:nvSpPr>
        <p:spPr>
          <a:xfrm>
            <a:off x="19157264" y="2756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chemeClr val="accent6">
                    <a:lumMod val="50000"/>
                  </a:schemeClr>
                </a:solidFill>
              </a:rPr>
              <a:t>Oct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2" name="Freeform 91"/>
          <p:cNvSpPr/>
          <p:nvPr/>
        </p:nvSpPr>
        <p:spPr>
          <a:xfrm>
            <a:off x="18243670" y="3567072"/>
            <a:ext cx="2367408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err="1" smtClean="0">
                <a:solidFill>
                  <a:srgbClr val="C55B1E"/>
                </a:solidFill>
              </a:rPr>
              <a:t>Neurodata</a:t>
            </a:r>
            <a:r>
              <a:rPr lang="en-US" sz="2300" dirty="0" smtClean="0">
                <a:solidFill>
                  <a:srgbClr val="C55B1E"/>
                </a:solidFill>
              </a:rPr>
              <a:t> Extension Catalog released,        NWB @ </a:t>
            </a:r>
            <a:r>
              <a:rPr lang="en-US" sz="2300" dirty="0" err="1" smtClean="0">
                <a:solidFill>
                  <a:srgbClr val="C55B1E"/>
                </a:solidFill>
              </a:rPr>
              <a:t>SfN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pic>
        <p:nvPicPr>
          <p:cNvPr id="2" name="Picture 1" descr="logo_brain_text_transp_hor_350x64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298" y="433973"/>
            <a:ext cx="4444979" cy="812796"/>
          </a:xfrm>
          <a:prstGeom prst="rect">
            <a:avLst/>
          </a:prstGeom>
        </p:spPr>
      </p:pic>
      <p:cxnSp>
        <p:nvCxnSpPr>
          <p:cNvPr id="93" name="Straight Connector 92"/>
          <p:cNvCxnSpPr/>
          <p:nvPr/>
        </p:nvCxnSpPr>
        <p:spPr>
          <a:xfrm flipV="1">
            <a:off x="20582223" y="2339701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>
            <a:spLocks noChangeAspect="1"/>
          </p:cNvSpPr>
          <p:nvPr/>
        </p:nvSpPr>
        <p:spPr>
          <a:xfrm>
            <a:off x="20362408" y="2704774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95" name="Freeform 94"/>
          <p:cNvSpPr/>
          <p:nvPr/>
        </p:nvSpPr>
        <p:spPr>
          <a:xfrm>
            <a:off x="20300541" y="273260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Dec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6" name="Freeform 95"/>
          <p:cNvSpPr/>
          <p:nvPr/>
        </p:nvSpPr>
        <p:spPr>
          <a:xfrm>
            <a:off x="19737558" y="993137"/>
            <a:ext cx="165842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NWB receives R&amp;D 100 Award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sp>
        <p:nvSpPr>
          <p:cNvPr id="97" name="Notched Right Arrow 96"/>
          <p:cNvSpPr/>
          <p:nvPr/>
        </p:nvSpPr>
        <p:spPr>
          <a:xfrm>
            <a:off x="20770451" y="2531651"/>
            <a:ext cx="2633835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rgbClr val="C55B1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98" name="Freeform 97"/>
          <p:cNvSpPr/>
          <p:nvPr/>
        </p:nvSpPr>
        <p:spPr>
          <a:xfrm>
            <a:off x="20715631" y="302626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chemeClr val="accent6">
                    <a:lumMod val="40000"/>
                    <a:lumOff val="60000"/>
                  </a:schemeClr>
                </a:solidFill>
              </a:rPr>
              <a:t>2020</a:t>
            </a:r>
            <a:endParaRPr lang="en-US" sz="2200" b="1" kern="12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9" name="Freeform 98"/>
          <p:cNvSpPr/>
          <p:nvPr/>
        </p:nvSpPr>
        <p:spPr>
          <a:xfrm>
            <a:off x="21024430" y="3556151"/>
            <a:ext cx="1658427" cy="100692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7</a:t>
            </a:r>
            <a:r>
              <a:rPr lang="en-US" sz="2300" baseline="30000" dirty="0" smtClean="0">
                <a:solidFill>
                  <a:srgbClr val="C55B1E"/>
                </a:solidFill>
              </a:rPr>
              <a:t>th</a:t>
            </a:r>
            <a:r>
              <a:rPr lang="en-US" sz="2300" dirty="0" smtClean="0">
                <a:solidFill>
                  <a:srgbClr val="C55B1E"/>
                </a:solidFill>
              </a:rPr>
              <a:t> NWB Developer </a:t>
            </a:r>
            <a:r>
              <a:rPr lang="en-US" sz="2300" dirty="0" err="1" smtClean="0">
                <a:solidFill>
                  <a:srgbClr val="C55B1E"/>
                </a:solidFill>
              </a:rPr>
              <a:t>Hackathon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cxnSp>
        <p:nvCxnSpPr>
          <p:cNvPr id="100" name="Straight Connector 99"/>
          <p:cNvCxnSpPr/>
          <p:nvPr/>
        </p:nvCxnSpPr>
        <p:spPr>
          <a:xfrm flipV="1">
            <a:off x="21961256" y="3185906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>
            <a:spLocks noChangeAspect="1"/>
          </p:cNvSpPr>
          <p:nvPr/>
        </p:nvSpPr>
        <p:spPr>
          <a:xfrm>
            <a:off x="21730102" y="2723159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2" name="Freeform 101"/>
          <p:cNvSpPr/>
          <p:nvPr/>
        </p:nvSpPr>
        <p:spPr>
          <a:xfrm>
            <a:off x="21668235" y="275098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Feb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03" name="Straight Connector 102"/>
          <p:cNvCxnSpPr/>
          <p:nvPr/>
        </p:nvCxnSpPr>
        <p:spPr>
          <a:xfrm flipV="1">
            <a:off x="22739375" y="2368368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>
            <a:spLocks noChangeAspect="1"/>
          </p:cNvSpPr>
          <p:nvPr/>
        </p:nvSpPr>
        <p:spPr>
          <a:xfrm>
            <a:off x="22519560" y="2722101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5" name="Freeform 104"/>
          <p:cNvSpPr/>
          <p:nvPr/>
        </p:nvSpPr>
        <p:spPr>
          <a:xfrm>
            <a:off x="22457693" y="274992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May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6" name="Freeform 105"/>
          <p:cNvSpPr/>
          <p:nvPr/>
        </p:nvSpPr>
        <p:spPr>
          <a:xfrm>
            <a:off x="21894710" y="1021804"/>
            <a:ext cx="165842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8</a:t>
            </a:r>
            <a:r>
              <a:rPr lang="en-US" sz="2300" baseline="30000" dirty="0" smtClean="0">
                <a:solidFill>
                  <a:srgbClr val="C55B1E"/>
                </a:solidFill>
              </a:rPr>
              <a:t>th</a:t>
            </a:r>
            <a:r>
              <a:rPr lang="en-US" sz="2300" dirty="0" smtClean="0">
                <a:solidFill>
                  <a:srgbClr val="C55B1E"/>
                </a:solidFill>
              </a:rPr>
              <a:t> NWB User and Developer Days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127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Previous Versions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188880" y="2578690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1081559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1312425" y="324667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150644" y="307663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1023514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481797" y="3577892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1818898" y="2578690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1752197" y="307663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1995639" y="1337101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2585278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2808067" y="241220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2527233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3697753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3933445" y="324986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3639708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3118441" y="3718916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5511003" y="2576623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6424253" y="2795023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5444303" y="307457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6366208" y="282003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6651789" y="3254112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5585037" y="3718916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7294694" y="2576623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8335173" y="2795023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8557962" y="2444182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7314690" y="307457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8273306" y="282285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7241332" y="1260044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8942982" y="3544570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9507450" y="2795023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9730239" y="324928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9445583" y="282285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10703230" y="279221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10926019" y="244137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10641363" y="282003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9806806" y="1694314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11118096" y="3603055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1958209" y="278530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2180998" y="324481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1896342" y="281312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2947613" y="2576623"/>
            <a:ext cx="435604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/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4200299" y="1754473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4789250" y="2789927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5012039" y="2414275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4731205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3559788" y="1047997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NWB:N 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4407350" y="278711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4630139" y="2429335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4345483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3795391" y="3602957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NWB:N 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4630139" y="324901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2958037" y="3082572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6685071" y="2414275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5989931" y="1098268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6462282" y="278530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6400415" y="281312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35" name="Left Brace 234"/>
          <p:cNvSpPr/>
          <p:nvPr/>
        </p:nvSpPr>
        <p:spPr>
          <a:xfrm rot="16200000">
            <a:off x="3580495" y="1349022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4020989" y="-1956588"/>
            <a:ext cx="351659" cy="13746098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2935033" y="5057520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12147933" y="5057520"/>
            <a:ext cx="4538180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>
                    <a:lumMod val="75000"/>
                  </a:schemeClr>
                </a:solidFill>
              </a:rPr>
              <a:t>NWB:N 2.0</a:t>
            </a:r>
            <a:endParaRPr lang="en-US" sz="2200" b="1" kern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6150646" y="324986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5931214" y="278711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5869347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5525856" y="3356808"/>
            <a:ext cx="1256679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funds NWB:N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19936062" y="4275375"/>
            <a:ext cx="351660" cy="1915949"/>
          </a:xfrm>
          <a:prstGeom prst="leftBrace">
            <a:avLst/>
          </a:prstGeom>
          <a:ln w="28575" cmpd="sng">
            <a:solidFill>
              <a:srgbClr val="8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Notched Right Arrow 77"/>
          <p:cNvSpPr/>
          <p:nvPr/>
        </p:nvSpPr>
        <p:spPr>
          <a:xfrm>
            <a:off x="16885965" y="2576623"/>
            <a:ext cx="4183902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61000">
                <a:schemeClr val="accent1">
                  <a:lumMod val="75000"/>
                </a:schemeClr>
              </a:gs>
              <a:gs pos="88000">
                <a:schemeClr val="accent2">
                  <a:lumMod val="75000"/>
                </a:schemeClr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cxnSp>
        <p:nvCxnSpPr>
          <p:cNvPr id="79" name="Straight Connector 78"/>
          <p:cNvCxnSpPr/>
          <p:nvPr/>
        </p:nvCxnSpPr>
        <p:spPr>
          <a:xfrm flipV="1">
            <a:off x="19586370" y="24076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>
            <a:spLocks noChangeAspect="1"/>
          </p:cNvSpPr>
          <p:nvPr/>
        </p:nvSpPr>
        <p:spPr>
          <a:xfrm>
            <a:off x="19363581" y="27786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1" name="Freeform 80"/>
          <p:cNvSpPr/>
          <p:nvPr/>
        </p:nvSpPr>
        <p:spPr>
          <a:xfrm>
            <a:off x="19301714" y="28064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May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18121357" y="324319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>
            <a:spLocks noChangeAspect="1"/>
          </p:cNvSpPr>
          <p:nvPr/>
        </p:nvSpPr>
        <p:spPr>
          <a:xfrm>
            <a:off x="17912881" y="27804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4" name="Freeform 83"/>
          <p:cNvSpPr/>
          <p:nvPr/>
        </p:nvSpPr>
        <p:spPr>
          <a:xfrm>
            <a:off x="17851014" y="28082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85" name="Freeform 84"/>
          <p:cNvSpPr/>
          <p:nvPr/>
        </p:nvSpPr>
        <p:spPr>
          <a:xfrm>
            <a:off x="17419125" y="3618465"/>
            <a:ext cx="1624490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 2.0, </a:t>
            </a:r>
            <a:r>
              <a:rPr lang="en-US" sz="2300" dirty="0" err="1" smtClean="0">
                <a:solidFill>
                  <a:srgbClr val="052B48"/>
                </a:solidFill>
              </a:rPr>
              <a:t>PyNWB</a:t>
            </a:r>
            <a:r>
              <a:rPr lang="en-US" sz="2300" dirty="0" smtClean="0">
                <a:solidFill>
                  <a:srgbClr val="052B48"/>
                </a:solidFill>
              </a:rPr>
              <a:t>, </a:t>
            </a:r>
            <a:r>
              <a:rPr lang="en-US" sz="2300" dirty="0" err="1" smtClean="0">
                <a:solidFill>
                  <a:srgbClr val="052B48"/>
                </a:solidFill>
              </a:rPr>
              <a:t>MatNWB</a:t>
            </a:r>
            <a:r>
              <a:rPr lang="en-US" sz="2300" dirty="0">
                <a:solidFill>
                  <a:srgbClr val="052B48"/>
                </a:solidFill>
              </a:rPr>
              <a:t> </a:t>
            </a:r>
            <a:r>
              <a:rPr lang="en-US" sz="2300" dirty="0" smtClean="0">
                <a:solidFill>
                  <a:srgbClr val="052B48"/>
                </a:solidFill>
              </a:rPr>
              <a:t>release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6" name="Freeform 85"/>
          <p:cNvSpPr/>
          <p:nvPr/>
        </p:nvSpPr>
        <p:spPr>
          <a:xfrm>
            <a:off x="16839385" y="3082572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2019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87" name="Freeform 86"/>
          <p:cNvSpPr/>
          <p:nvPr/>
        </p:nvSpPr>
        <p:spPr>
          <a:xfrm>
            <a:off x="18489835" y="1092854"/>
            <a:ext cx="221660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NWB:NM User Days and Developer </a:t>
            </a:r>
            <a:r>
              <a:rPr lang="en-US" sz="2300" dirty="0" err="1" smtClean="0">
                <a:solidFill>
                  <a:srgbClr val="052B48"/>
                </a:solidFill>
              </a:rPr>
              <a:t>Hackathon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8" name="Freeform 87"/>
          <p:cNvSpPr/>
          <p:nvPr/>
        </p:nvSpPr>
        <p:spPr>
          <a:xfrm>
            <a:off x="19153916" y="5299690"/>
            <a:ext cx="1915951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accent2">
                    <a:lumMod val="75000"/>
                  </a:schemeClr>
                </a:solidFill>
              </a:rPr>
              <a:t>NWB:N 2.x</a:t>
            </a:r>
            <a:endParaRPr lang="en-US" sz="2200" b="1" kern="12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152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1015565" y="3179296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1908244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2139110" y="384727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977329" y="3677243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1850199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1308482" y="4178498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2645583" y="3179296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2578882" y="3677243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2822324" y="1937707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3411963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3634752" y="3012814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3353918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4524438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4760130" y="385046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4466393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3945126" y="4319522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6337688" y="3177229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7250938" y="3395629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6270988" y="3675176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7192893" y="342064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7478474" y="385471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6411722" y="4319522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8121379" y="3177229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9161858" y="3395629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9384647" y="3044788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8141375" y="3675176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9099991" y="342345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8068017" y="1860650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9769667" y="4145176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10334135" y="3395629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10556924" y="384988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10272268" y="342345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11529915" y="339281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11752704" y="304197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11468048" y="342064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10633491" y="2294920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11944781" y="4203661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2784894" y="338590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3007683" y="384541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2723027" y="341373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3774298" y="3177229"/>
            <a:ext cx="5423469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54000">
                <a:schemeClr val="accent1"/>
              </a:gs>
              <a:gs pos="84000">
                <a:schemeClr val="accent2"/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5026984" y="2355079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5615935" y="3390533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5838724" y="301488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5557890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4386473" y="1648603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NWB:N 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5234035" y="338772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5456824" y="302994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5172168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4622076" y="4203563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NWB:N 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5456824" y="384962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3784722" y="368317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7511756" y="301488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6816616" y="1698874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7288967" y="338590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7227100" y="341373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26" name="Oval 225"/>
          <p:cNvSpPr>
            <a:spLocks noChangeAspect="1"/>
          </p:cNvSpPr>
          <p:nvPr/>
        </p:nvSpPr>
        <p:spPr>
          <a:xfrm>
            <a:off x="18322240" y="3395980"/>
            <a:ext cx="445578" cy="44557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7" name="Freeform 226"/>
          <p:cNvSpPr/>
          <p:nvPr/>
        </p:nvSpPr>
        <p:spPr>
          <a:xfrm>
            <a:off x="18260373" y="342380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953735"/>
                </a:solidFill>
              </a:rPr>
              <a:t>Dec</a:t>
            </a:r>
            <a:endParaRPr lang="en-US" sz="1600" b="1" kern="1200" dirty="0">
              <a:solidFill>
                <a:srgbClr val="953735"/>
              </a:solidFill>
            </a:endParaRPr>
          </a:p>
        </p:txBody>
      </p:sp>
      <p:cxnSp>
        <p:nvCxnSpPr>
          <p:cNvPr id="228" name="Straight Connector 227"/>
          <p:cNvCxnSpPr/>
          <p:nvPr/>
        </p:nvCxnSpPr>
        <p:spPr>
          <a:xfrm flipV="1">
            <a:off x="18548893" y="3849623"/>
            <a:ext cx="0" cy="350841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Freeform 228"/>
          <p:cNvSpPr/>
          <p:nvPr/>
        </p:nvSpPr>
        <p:spPr>
          <a:xfrm>
            <a:off x="17737926" y="4201310"/>
            <a:ext cx="1622513" cy="130181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NWB:N 2.0, PyNWB, MatNWB, release </a:t>
            </a:r>
          </a:p>
        </p:txBody>
      </p:sp>
      <p:sp>
        <p:nvSpPr>
          <p:cNvPr id="230" name="Notched Right Arrow 229"/>
          <p:cNvSpPr/>
          <p:nvPr/>
        </p:nvSpPr>
        <p:spPr>
          <a:xfrm>
            <a:off x="18767818" y="3177229"/>
            <a:ext cx="2674771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35" name="Left Brace 234"/>
          <p:cNvSpPr/>
          <p:nvPr/>
        </p:nvSpPr>
        <p:spPr>
          <a:xfrm rot="16200000">
            <a:off x="4407180" y="1949628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2798004" y="693691"/>
            <a:ext cx="351659" cy="9646757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3761718" y="5658126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12157852" y="5639662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/>
                </a:solidFill>
              </a:rPr>
              <a:t>NWB:N 2.0</a:t>
            </a:r>
            <a:endParaRPr lang="en-US" sz="2200" b="1" kern="1200" dirty="0">
              <a:solidFill>
                <a:schemeClr val="tx2"/>
              </a:solidFill>
            </a:endParaRPr>
          </a:p>
        </p:txBody>
      </p:sp>
      <p:sp>
        <p:nvSpPr>
          <p:cNvPr id="239" name="Freeform 238"/>
          <p:cNvSpPr/>
          <p:nvPr/>
        </p:nvSpPr>
        <p:spPr>
          <a:xfrm>
            <a:off x="18824801" y="368317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501E1D"/>
                </a:solidFill>
              </a:rPr>
              <a:t>2019</a:t>
            </a:r>
            <a:endParaRPr lang="en-US" sz="2200" b="1" kern="1200" dirty="0">
              <a:solidFill>
                <a:srgbClr val="501E1D"/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6977331" y="3850469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6757899" y="338772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6696032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6352541" y="3957414"/>
            <a:ext cx="1256679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funds NWB:N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19444072" y="3694381"/>
            <a:ext cx="351660" cy="3645380"/>
          </a:xfrm>
          <a:prstGeom prst="leftBrace">
            <a:avLst/>
          </a:prstGeom>
          <a:ln w="28575" cmpd="sng">
            <a:solidFill>
              <a:srgbClr val="8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5" name="Freeform 244"/>
          <p:cNvSpPr/>
          <p:nvPr/>
        </p:nvSpPr>
        <p:spPr>
          <a:xfrm>
            <a:off x="18214851" y="5516289"/>
            <a:ext cx="2813384" cy="642435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0"/>
              </a:lnSpc>
              <a:spcBef>
                <a:spcPct val="0"/>
              </a:spcBef>
              <a:spcAft>
                <a:spcPts val="500"/>
              </a:spcAft>
            </a:pPr>
            <a:r>
              <a:rPr lang="en-US" sz="2200" b="1" kern="1200" dirty="0" smtClean="0">
                <a:solidFill>
                  <a:srgbClr val="953735"/>
                </a:solidFill>
              </a:rPr>
              <a:t>Future Events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 smtClean="0">
                <a:solidFill>
                  <a:srgbClr val="953735"/>
                </a:solidFill>
              </a:rPr>
              <a:t>(dates subject to change)</a:t>
            </a:r>
            <a:endParaRPr lang="en-US" sz="1200" b="1" kern="1200" dirty="0">
              <a:solidFill>
                <a:srgbClr val="953735"/>
              </a:solidFill>
            </a:endParaRPr>
          </a:p>
        </p:txBody>
      </p:sp>
      <p:sp>
        <p:nvSpPr>
          <p:cNvPr id="246" name="Oval 245"/>
          <p:cNvSpPr>
            <a:spLocks noChangeAspect="1"/>
          </p:cNvSpPr>
          <p:nvPr/>
        </p:nvSpPr>
        <p:spPr>
          <a:xfrm>
            <a:off x="20410648" y="3398233"/>
            <a:ext cx="445578" cy="44557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7" name="Freeform 246"/>
          <p:cNvSpPr/>
          <p:nvPr/>
        </p:nvSpPr>
        <p:spPr>
          <a:xfrm>
            <a:off x="20348781" y="342606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mr-IN" sz="1600" b="1" kern="1200" dirty="0" smtClean="0">
                <a:solidFill>
                  <a:srgbClr val="953735"/>
                </a:solidFill>
              </a:rPr>
              <a:t>…</a:t>
            </a:r>
            <a:endParaRPr lang="en-US" sz="1600" b="1" kern="1200" dirty="0">
              <a:solidFill>
                <a:srgbClr val="953735"/>
              </a:solidFill>
            </a:endParaRPr>
          </a:p>
        </p:txBody>
      </p:sp>
      <p:cxnSp>
        <p:nvCxnSpPr>
          <p:cNvPr id="248" name="Straight Connector 247"/>
          <p:cNvCxnSpPr/>
          <p:nvPr/>
        </p:nvCxnSpPr>
        <p:spPr>
          <a:xfrm flipV="1">
            <a:off x="20637301" y="3851876"/>
            <a:ext cx="0" cy="350841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Freeform 248"/>
          <p:cNvSpPr/>
          <p:nvPr/>
        </p:nvSpPr>
        <p:spPr>
          <a:xfrm>
            <a:off x="19826334" y="4209555"/>
            <a:ext cx="1622513" cy="113661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NWB:N hackathon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accent2">
                    <a:lumMod val="75000"/>
                  </a:schemeClr>
                </a:solidFill>
              </a:rPr>
              <a:t>(date to be determined )</a:t>
            </a:r>
          </a:p>
        </p:txBody>
      </p:sp>
    </p:spTree>
    <p:extLst>
      <p:ext uri="{BB962C8B-B14F-4D97-AF65-F5344CB8AC3E}">
        <p14:creationId xmlns:p14="http://schemas.microsoft.com/office/powerpoint/2010/main" val="1417017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413</Words>
  <Application>Microsoft Macintosh PowerPoint</Application>
  <PresentationFormat>Custom</PresentationFormat>
  <Paragraphs>126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Previous Versions</vt:lpstr>
      <vt:lpstr>PowerPoint Presentation</vt:lpstr>
      <vt:lpstr>PowerPoint Presentation</vt:lpstr>
    </vt:vector>
  </TitlesOfParts>
  <Company>LBNL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Oliver Ruebel</dc:creator>
  <cp:lastModifiedBy>Oliver Ruebel</cp:lastModifiedBy>
  <cp:revision>6</cp:revision>
  <dcterms:created xsi:type="dcterms:W3CDTF">2018-11-02T01:16:52Z</dcterms:created>
  <dcterms:modified xsi:type="dcterms:W3CDTF">2020-02-25T23:40:07Z</dcterms:modified>
</cp:coreProperties>
</file>